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6464c4c-eee5-6d55-11f8-1d22f7cb80d6}">
          <p14:sldIdLst>
            <p14:sldId id="256"/>
          </p14:sldIdLst>
        </p14:section>
        <p14:section name="Concepts" id="{a693d4ec-3a70-bfb0-38be-85265fe97a71}">
          <p14:sldIdLst>
            <p14:sldId id="257"/>
            <p14:sldId id="258"/>
            <p14:sldId id="259"/>
          </p14:sldIdLst>
        </p14:section>
        <p14:section name="Patterns" id="{90d4a0a5-aafa-6b5e-cc2b-1ce468dc7fdb}">
          <p14:sldIdLst>
            <p14:sldId id="260"/>
          </p14:sldIdLst>
        </p14:section>
        <p14:section name="Lifecycle" id="{eb69015a-f7ef-219c-7c69-ed7170d1c3e6}">
          <p14:sldIdLst>
            <p14:sldId id="261"/>
            <p14:sldId id="262"/>
            <p14:sldId id="263"/>
          </p14:sldIdLst>
        </p14:section>
        <p14:section name="Build" id="{d92e08b7-dab4-1508-6886-f78e583bb668}">
          <p14:sldIdLst>
            <p14:sldId id="264"/>
            <p14:sldId id="265"/>
          </p14:sldIdLst>
        </p14:section>
        <p14:section name="Safety" id="{ef9db503-35cf-1900-356d-07f5b045629f}">
          <p14:sldIdLst>
            <p14:sldId id="266"/>
          </p14:sldIdLst>
        </p14:section>
        <p14:section name="Demo" id="{a9b554e8-c9ec-3ad2-4ca2-296b594544a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the second pillar of an MCP server, Resources. Three example URIs on the slide preview static, template and wildcard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is the key difference. Resources are application-controlled: the host decides what to load into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content comes back as text or a base64 blob, always inside a contents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schemes: file, https, git, plus any custom scheme for your own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and dynamic are concrete resources; template and wildcard are patterns the client fills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Select has no wire message: the host application decides what to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FastMCP 4 screens template parameters for dot-dot segments, absolute paths and null bytes before your function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resource ideas are unchanged; the connection and notification mechanics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mime_type on the decorator so hosts can render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FileResource with a relative path breaks when the host launches your server from another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8: a ticket or wiki page may contain instructions aimed at the model. Treat resource content as untrusted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scripts were executed with Python 3.12, fastmcp 4.0.11 and mcp 2.3.0.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MENTORING PATH  |  MODULE 3, PART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Resources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 URIs and access patterns in one picture</a:t>
            </a:r>
            <a:endParaRPr lang="en-US" sz="2200" dirty="0"/>
          </a:p>
        </p:txBody>
      </p:sp>
      <p:sp>
        <p:nvSpPr>
          <p:cNvPr id="5" name="uri chip"/>
          <p:cNvSpPr/>
          <p:nvPr/>
        </p:nvSpPr>
        <p:spPr>
          <a:xfrm>
            <a:off x="54864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config://app/settings</a:t>
            </a:r>
            <a:endParaRPr lang="en-US" sz="1300" dirty="0"/>
          </a:p>
        </p:txBody>
      </p:sp>
      <p:sp>
        <p:nvSpPr>
          <p:cNvPr id="7" name="uri chip"/>
          <p:cNvSpPr/>
          <p:nvPr/>
        </p:nvSpPr>
        <p:spPr>
          <a:xfrm>
            <a:off x="324612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employee://{id}/profile</a:t>
            </a:r>
            <a:endParaRPr lang="en-US" sz="1300" dirty="0"/>
          </a:p>
        </p:txBody>
      </p:sp>
      <p:sp>
        <p:nvSpPr>
          <p:cNvPr id="9" name="uri chip"/>
          <p:cNvSpPr/>
          <p:nvPr/>
        </p:nvSpPr>
        <p:spPr>
          <a:xfrm>
            <a:off x="5943600" y="3566160"/>
            <a:ext cx="2514600" cy="685800"/>
          </a:xfrm>
          <a:prstGeom prst="roundRect">
            <a:avLst>
              <a:gd name="adj" fmla="val 16000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kb://{path*}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act. Resources inform.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label"/>
          <p:cNvSpPr/>
          <p:nvPr/>
        </p:nvSpPr>
        <p:spPr>
          <a:xfrm>
            <a:off x="64008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something: compute, call API, write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function call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46120" y="1234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1" name="label"/>
          <p:cNvSpPr/>
          <p:nvPr/>
        </p:nvSpPr>
        <p:spPr>
          <a:xfrm>
            <a:off x="342900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decides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560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context to attach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5204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an attached file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035040" y="123444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8" name="label"/>
          <p:cNvSpPr/>
          <p:nvPr/>
        </p:nvSpPr>
        <p:spPr>
          <a:xfrm>
            <a:off x="6217920" y="1417320"/>
            <a:ext cx="2240280" cy="502920"/>
          </a:xfrm>
          <a:prstGeom prst="roundRect">
            <a:avLst>
              <a:gd name="adj" fmla="val 14545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decides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560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instruction templates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5204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749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resource</a:t>
            </a:r>
            <a:endParaRPr lang="en-US" sz="3000" dirty="0"/>
          </a:p>
        </p:txBody>
      </p:sp>
      <p:sp>
        <p:nvSpPr>
          <p:cNvPr id="3" name="uri part"/>
          <p:cNvSpPr/>
          <p:nvPr/>
        </p:nvSpPr>
        <p:spPr>
          <a:xfrm>
            <a:off x="457200" y="123444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employee://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of data</a:t>
            </a:r>
            <a:endParaRPr lang="en-US" sz="1200" dirty="0"/>
          </a:p>
        </p:txBody>
      </p:sp>
      <p:sp>
        <p:nvSpPr>
          <p:cNvPr id="7" name="uri part"/>
          <p:cNvSpPr/>
          <p:nvPr/>
        </p:nvSpPr>
        <p:spPr>
          <a:xfrm>
            <a:off x="3337560" y="123444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234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entity</a:t>
            </a:r>
            <a:endParaRPr lang="en-US" sz="1200" dirty="0"/>
          </a:p>
        </p:txBody>
      </p:sp>
      <p:sp>
        <p:nvSpPr>
          <p:cNvPr id="11" name="uri part"/>
          <p:cNvSpPr/>
          <p:nvPr/>
        </p:nvSpPr>
        <p:spPr>
          <a:xfrm>
            <a:off x="5120640" y="12344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1234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/profile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view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URI is the identity: like a primary key for context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 host sees in resources/list</a:t>
            </a:r>
            <a:endParaRPr lang="en-US" sz="1400" dirty="0"/>
          </a:p>
        </p:txBody>
      </p:sp>
      <p:sp>
        <p:nvSpPr>
          <p:cNvPr id="17" name="field chip"/>
          <p:cNvSpPr/>
          <p:nvPr/>
        </p:nvSpPr>
        <p:spPr>
          <a:xfrm>
            <a:off x="457200" y="384048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9525">
            <a:solidFill>
              <a:srgbClr val="0F4C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404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</p:txBody>
      </p:sp>
      <p:sp>
        <p:nvSpPr>
          <p:cNvPr id="19" name="field chip"/>
          <p:cNvSpPr/>
          <p:nvPr/>
        </p:nvSpPr>
        <p:spPr>
          <a:xfrm>
            <a:off x="1417320" y="3840480"/>
            <a:ext cx="822960" cy="457200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9525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17320" y="3840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300" dirty="0"/>
          </a:p>
        </p:txBody>
      </p:sp>
      <p:sp>
        <p:nvSpPr>
          <p:cNvPr id="21" name="field chip"/>
          <p:cNvSpPr/>
          <p:nvPr/>
        </p:nvSpPr>
        <p:spPr>
          <a:xfrm>
            <a:off x="2377440" y="384048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9525">
            <a:solidFill>
              <a:srgbClr val="0F4C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77440" y="38404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300" dirty="0"/>
          </a:p>
        </p:txBody>
      </p:sp>
      <p:sp>
        <p:nvSpPr>
          <p:cNvPr id="23" name="field chip"/>
          <p:cNvSpPr/>
          <p:nvPr/>
        </p:nvSpPr>
        <p:spPr>
          <a:xfrm>
            <a:off x="3840480" y="38404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9525">
            <a:solidFill>
              <a:srgbClr val="0F4C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0" y="3840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mimeType</a:t>
            </a:r>
            <a:endParaRPr lang="en-US" sz="1300" dirty="0"/>
          </a:p>
        </p:txBody>
      </p:sp>
      <p:sp>
        <p:nvSpPr>
          <p:cNvPr id="25" name="field chip"/>
          <p:cNvSpPr/>
          <p:nvPr/>
        </p:nvSpPr>
        <p:spPr>
          <a:xfrm>
            <a:off x="5120640" y="3840480"/>
            <a:ext cx="731520" cy="457200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9525">
            <a:solidFill>
              <a:srgbClr val="0F4C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0" y="3840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300" dirty="0"/>
          </a:p>
        </p:txBody>
      </p:sp>
      <p:sp>
        <p:nvSpPr>
          <p:cNvPr id="27" name="field chip"/>
          <p:cNvSpPr/>
          <p:nvPr/>
        </p:nvSpPr>
        <p:spPr>
          <a:xfrm>
            <a:off x="5943600" y="3840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9525">
            <a:solidFill>
              <a:srgbClr val="0F4C5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3840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</a:t>
            </a:r>
            <a:endParaRPr lang="en-US" sz="1300" dirty="0"/>
          </a:p>
        </p:txBody>
      </p:sp>
      <p:sp>
        <p:nvSpPr>
          <p:cNvPr id="29" name="field chip"/>
          <p:cNvSpPr/>
          <p:nvPr/>
        </p:nvSpPr>
        <p:spPr>
          <a:xfrm>
            <a:off x="7498080" y="384048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E8F1F2"/>
          </a:solidFill>
          <a:ln w="9525">
            <a:solidFill>
              <a:srgbClr val="0F4C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0" y="3840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URI design: six rules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Nouns, not verbs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employee://E1/profile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429000" y="1463040"/>
            <a:ext cx="502920" cy="5029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contract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rename casually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2801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shape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entity, same pattern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scheme per domain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hr://  ops://  kb://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324612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3429000" y="3108960"/>
            <a:ext cx="502920" cy="50292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inside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URIs land in logs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035040" y="29260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6217920" y="3108960"/>
            <a:ext cx="502920" cy="50292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URL-safe, lower-case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spaces become %20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access patterns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pattern label"/>
          <p:cNvSpPr/>
          <p:nvPr/>
        </p:nvSpPr>
        <p:spPr>
          <a:xfrm>
            <a:off x="640080" y="14173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config://app/settings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identity. Listed in resources/list.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pattern label"/>
          <p:cNvSpPr/>
          <p:nvPr/>
        </p:nvSpPr>
        <p:spPr>
          <a:xfrm>
            <a:off x="4846320" y="14173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status://server/health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URI, recomputed on EVERY read.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pattern label"/>
          <p:cNvSpPr/>
          <p:nvPr/>
        </p:nvSpPr>
        <p:spPr>
          <a:xfrm>
            <a:off x="640080" y="31546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employee://{emp_id}/profile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of URIs. Listed in templates/list.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pattern label"/>
          <p:cNvSpPr/>
          <p:nvPr/>
        </p:nvSpPr>
        <p:spPr>
          <a:xfrm>
            <a:off x="4846320" y="31546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54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E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kb://{path*}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slashes. Needs strict path checks.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seven-phase lifecycle</a:t>
            </a:r>
            <a:endParaRPr lang="en-US" sz="3000" dirty="0"/>
          </a:p>
        </p:txBody>
      </p:sp>
      <p:sp>
        <p:nvSpPr>
          <p:cNvPr id="3" name="connector"/>
          <p:cNvSpPr/>
          <p:nvPr/>
        </p:nvSpPr>
        <p:spPr>
          <a:xfrm>
            <a:off x="1280160" y="1783080"/>
            <a:ext cx="566928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66928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01752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1752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1752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</a:t>
            </a:r>
            <a:endParaRPr lang="en-US" sz="1000" dirty="0"/>
          </a:p>
        </p:txBody>
      </p:sp>
      <p:sp>
        <p:nvSpPr>
          <p:cNvPr id="9" name="connector"/>
          <p:cNvSpPr/>
          <p:nvPr/>
        </p:nvSpPr>
        <p:spPr>
          <a:xfrm>
            <a:off x="2496312" y="1783080"/>
            <a:ext cx="566928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1783080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17904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17904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17904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5" name="connector"/>
          <p:cNvSpPr/>
          <p:nvPr/>
        </p:nvSpPr>
        <p:spPr>
          <a:xfrm>
            <a:off x="3712464" y="1783080"/>
            <a:ext cx="566928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2999232" y="150876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923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34056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734056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exists?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734056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resources/list</a:t>
            </a:r>
            <a:endParaRPr lang="en-US" sz="1000" dirty="0"/>
          </a:p>
        </p:txBody>
      </p:sp>
      <p:sp>
        <p:nvSpPr>
          <p:cNvPr id="21" name="connector"/>
          <p:cNvSpPr/>
          <p:nvPr/>
        </p:nvSpPr>
        <p:spPr>
          <a:xfrm>
            <a:off x="4928616" y="1783080"/>
            <a:ext cx="566928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4215384" y="1508760"/>
            <a:ext cx="548640" cy="54864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1538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950208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950208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decides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950208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6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logic</a:t>
            </a:r>
            <a:endParaRPr lang="en-US" sz="1000" dirty="0"/>
          </a:p>
        </p:txBody>
      </p:sp>
      <p:sp>
        <p:nvSpPr>
          <p:cNvPr id="27" name="connector"/>
          <p:cNvSpPr/>
          <p:nvPr/>
        </p:nvSpPr>
        <p:spPr>
          <a:xfrm>
            <a:off x="6144768" y="1783080"/>
            <a:ext cx="566928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5431536" y="1508760"/>
            <a:ext cx="548640" cy="54864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3153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content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resources/read</a:t>
            </a:r>
            <a:endParaRPr lang="en-US" sz="1000" dirty="0"/>
          </a:p>
        </p:txBody>
      </p:sp>
      <p:sp>
        <p:nvSpPr>
          <p:cNvPr id="33" name="connector"/>
          <p:cNvSpPr/>
          <p:nvPr/>
        </p:nvSpPr>
        <p:spPr>
          <a:xfrm>
            <a:off x="7360920" y="1783080"/>
            <a:ext cx="566928" cy="0"/>
          </a:xfrm>
          <a:prstGeom prst="line">
            <a:avLst/>
          </a:prstGeom>
          <a:noFill/>
          <a:ln w="25400">
            <a:solidFill>
              <a:srgbClr val="C9D3D8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6647688" y="1508760"/>
            <a:ext cx="548640" cy="54864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4768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382512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382512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382512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6D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endParaRPr lang="en-US" sz="1000" dirty="0"/>
          </a:p>
        </p:txBody>
      </p:sp>
      <p:sp>
        <p:nvSpPr>
          <p:cNvPr id="39" name="badge"/>
          <p:cNvSpPr/>
          <p:nvPr/>
        </p:nvSpPr>
        <p:spPr>
          <a:xfrm>
            <a:off x="7863840" y="1508760"/>
            <a:ext cx="548640" cy="54864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638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598664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4E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598664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/ end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598664" y="2834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4E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-32002</a:t>
            </a:r>
            <a:endParaRPr lang="en-US" sz="1000" dirty="0"/>
          </a:p>
        </p:txBody>
      </p:sp>
      <p:sp>
        <p:nvSpPr>
          <p:cNvPr id="44" name="card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story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3840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Negotiate, Discover, Select, Read, Watch, Retire. Only phase 4 belongs to the host: that is what "application-controlled" means.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resources/read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URI</a:t>
            </a:r>
            <a:endParaRPr lang="en-US" sz="1500" dirty="0"/>
          </a:p>
        </p:txBody>
      </p:sp>
      <p:sp>
        <p:nvSpPr>
          <p:cNvPr id="7" name="arrow"/>
          <p:cNvSpPr/>
          <p:nvPr/>
        </p:nvSpPr>
        <p:spPr>
          <a:xfrm>
            <a:off x="2286000" y="1874520"/>
            <a:ext cx="228600" cy="27432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2560320" y="137160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2697480" y="1508760"/>
            <a:ext cx="411480" cy="4114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match?</a:t>
            </a:r>
            <a:endParaRPr lang="en-US" sz="1500" dirty="0"/>
          </a:p>
        </p:txBody>
      </p:sp>
      <p:sp>
        <p:nvSpPr>
          <p:cNvPr id="12" name="arrow"/>
          <p:cNvSpPr/>
          <p:nvPr/>
        </p:nvSpPr>
        <p:spPr>
          <a:xfrm>
            <a:off x="4389120" y="1874520"/>
            <a:ext cx="228600" cy="27432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4663440" y="137160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4800600" y="1508760"/>
            <a:ext cx="411480" cy="4114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try templates</a:t>
            </a:r>
            <a:endParaRPr lang="en-US" sz="1500" dirty="0"/>
          </a:p>
        </p:txBody>
      </p:sp>
      <p:sp>
        <p:nvSpPr>
          <p:cNvPr id="17" name="arrow"/>
          <p:cNvSpPr/>
          <p:nvPr/>
        </p:nvSpPr>
        <p:spPr>
          <a:xfrm>
            <a:off x="6492240" y="1874520"/>
            <a:ext cx="228600" cy="27432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8" name="card"/>
          <p:cNvSpPr/>
          <p:nvPr/>
        </p:nvSpPr>
        <p:spPr>
          <a:xfrm>
            <a:off x="6766560" y="137160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6903720" y="1508760"/>
            <a:ext cx="411480" cy="4114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011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params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457200" y="31089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3" name="badge"/>
          <p:cNvSpPr/>
          <p:nvPr/>
        </p:nvSpPr>
        <p:spPr>
          <a:xfrm>
            <a:off x="594360" y="3246120"/>
            <a:ext cx="411480" cy="41148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749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screen</a:t>
            </a:r>
            <a:endParaRPr lang="en-US" sz="1500" dirty="0"/>
          </a:p>
        </p:txBody>
      </p:sp>
      <p:sp>
        <p:nvSpPr>
          <p:cNvPr id="26" name="arrow"/>
          <p:cNvSpPr/>
          <p:nvPr/>
        </p:nvSpPr>
        <p:spPr>
          <a:xfrm>
            <a:off x="2286000" y="3611880"/>
            <a:ext cx="228600" cy="27432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27" name="card"/>
          <p:cNvSpPr/>
          <p:nvPr/>
        </p:nvSpPr>
        <p:spPr>
          <a:xfrm>
            <a:off x="2560320" y="31089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2697480" y="3246120"/>
            <a:ext cx="411480" cy="4114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974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697480" y="3749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function</a:t>
            </a:r>
            <a:endParaRPr lang="en-US" sz="1500" dirty="0"/>
          </a:p>
        </p:txBody>
      </p:sp>
      <p:sp>
        <p:nvSpPr>
          <p:cNvPr id="31" name="arrow"/>
          <p:cNvSpPr/>
          <p:nvPr/>
        </p:nvSpPr>
        <p:spPr>
          <a:xfrm>
            <a:off x="4389120" y="3611880"/>
            <a:ext cx="228600" cy="27432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32" name="card"/>
          <p:cNvSpPr/>
          <p:nvPr/>
        </p:nvSpPr>
        <p:spPr>
          <a:xfrm>
            <a:off x="4663440" y="31089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3" name="badge"/>
          <p:cNvSpPr/>
          <p:nvPr/>
        </p:nvSpPr>
        <p:spPr>
          <a:xfrm>
            <a:off x="4800600" y="3246120"/>
            <a:ext cx="411480" cy="4114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06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3749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contents</a:t>
            </a:r>
            <a:endParaRPr lang="en-US" sz="1500" dirty="0"/>
          </a:p>
        </p:txBody>
      </p:sp>
      <p:sp>
        <p:nvSpPr>
          <p:cNvPr id="36" name="arrow"/>
          <p:cNvSpPr/>
          <p:nvPr/>
        </p:nvSpPr>
        <p:spPr>
          <a:xfrm>
            <a:off x="6492240" y="3611880"/>
            <a:ext cx="228600" cy="274320"/>
          </a:xfrm>
          <a:prstGeom prst="rightArrow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37" name="card"/>
          <p:cNvSpPr/>
          <p:nvPr/>
        </p:nvSpPr>
        <p:spPr>
          <a:xfrm>
            <a:off x="6766560" y="310896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8" name="badge"/>
          <p:cNvSpPr/>
          <p:nvPr/>
        </p:nvSpPr>
        <p:spPr>
          <a:xfrm>
            <a:off x="6903720" y="3246120"/>
            <a:ext cx="411480" cy="4114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037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3749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or error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function runs only at step 6: listing is always cheap (lazy evaluation).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in spec 2026-07-28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(2025-11-25)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7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(2026-07-28)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/ initialized handshake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Stateless: server/discover, per-request metadata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one resource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resources/subscribe + unsubscribe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subscriptions/listen stream (client picks filter)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notifications/resources/list_changed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event, delivered on the listen 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cache hints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ttlMs + cacheScope on list and read results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list, templates, read, URIs, contents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resource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eras still exist in production. The official SDK speaks both.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return becomes contents</a:t>
            </a:r>
            <a:endParaRPr lang="en-US" sz="3000" dirty="0"/>
          </a:p>
        </p:txBody>
      </p:sp>
      <p:sp>
        <p:nvSpPr>
          <p:cNvPr id="3" name="python value"/>
          <p:cNvSpPr/>
          <p:nvPr/>
        </p:nvSpPr>
        <p:spPr>
          <a:xfrm>
            <a:off x="457200" y="128016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500" dirty="0"/>
          </a:p>
        </p:txBody>
      </p:sp>
      <p:sp>
        <p:nvSpPr>
          <p:cNvPr id="5" name="arrow"/>
          <p:cNvSpPr/>
          <p:nvPr/>
        </p:nvSpPr>
        <p:spPr>
          <a:xfrm>
            <a:off x="3749040" y="1481328"/>
            <a:ext cx="640080" cy="292608"/>
          </a:xfrm>
          <a:prstGeom prst="rightArrow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6" name="protocol content"/>
          <p:cNvSpPr/>
          <p:nvPr/>
        </p:nvSpPr>
        <p:spPr>
          <a:xfrm>
            <a:off x="4572000" y="12801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2801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text/plain</a:t>
            </a:r>
            <a:endParaRPr lang="en-US" sz="1600" dirty="0"/>
          </a:p>
        </p:txBody>
      </p:sp>
      <p:sp>
        <p:nvSpPr>
          <p:cNvPr id="8" name="python value"/>
          <p:cNvSpPr/>
          <p:nvPr/>
        </p:nvSpPr>
        <p:spPr>
          <a:xfrm>
            <a:off x="457200" y="214884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 / list / model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3749040" y="2350008"/>
            <a:ext cx="640080" cy="292608"/>
          </a:xfrm>
          <a:prstGeom prst="rightArrow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1" name="protocol content"/>
          <p:cNvSpPr/>
          <p:nvPr/>
        </p:nvSpPr>
        <p:spPr>
          <a:xfrm>
            <a:off x="4572000" y="21488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148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text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application/json</a:t>
            </a:r>
            <a:endParaRPr lang="en-US" sz="1600" dirty="0"/>
          </a:p>
        </p:txBody>
      </p:sp>
      <p:sp>
        <p:nvSpPr>
          <p:cNvPr id="13" name="python value"/>
          <p:cNvSpPr/>
          <p:nvPr/>
        </p:nvSpPr>
        <p:spPr>
          <a:xfrm>
            <a:off x="457200" y="301752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>
            <a:off x="3749040" y="3218688"/>
            <a:ext cx="640080" cy="292608"/>
          </a:xfrm>
          <a:prstGeom prst="rightArrow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6" name="protocol content"/>
          <p:cNvSpPr/>
          <p:nvPr/>
        </p:nvSpPr>
        <p:spPr>
          <a:xfrm>
            <a:off x="4572000" y="30175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30175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blob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image/png ...</a:t>
            </a:r>
            <a:endParaRPr lang="en-US" sz="1600" dirty="0"/>
          </a:p>
        </p:txBody>
      </p:sp>
      <p:sp>
        <p:nvSpPr>
          <p:cNvPr id="18" name="python value"/>
          <p:cNvSpPr/>
          <p:nvPr/>
        </p:nvSpPr>
        <p:spPr>
          <a:xfrm>
            <a:off x="457200" y="3886200"/>
            <a:ext cx="3108960" cy="685800"/>
          </a:xfrm>
          <a:prstGeom prst="roundRect">
            <a:avLst>
              <a:gd name="adj" fmla="val 13333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86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ResourceResult([...])</a:t>
            </a:r>
            <a:endParaRPr lang="en-US" sz="1500" dirty="0"/>
          </a:p>
        </p:txBody>
      </p:sp>
      <p:sp>
        <p:nvSpPr>
          <p:cNvPr id="20" name="arrow"/>
          <p:cNvSpPr/>
          <p:nvPr/>
        </p:nvSpPr>
        <p:spPr>
          <a:xfrm>
            <a:off x="3749040" y="4087368"/>
            <a:ext cx="640080" cy="292608"/>
          </a:xfrm>
          <a:prstGeom prst="rightArrow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1" name="protocol content"/>
          <p:cNvSpPr/>
          <p:nvPr/>
        </p:nvSpPr>
        <p:spPr>
          <a:xfrm>
            <a:off x="4572000" y="38862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3886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items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per-item MIME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inside a contents list. Binary data is base64: about 33% larger.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classes: no function needed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class dot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TextResource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 memory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46120" y="1280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class dot"/>
          <p:cNvSpPr/>
          <p:nvPr/>
        </p:nvSpPr>
        <p:spPr>
          <a:xfrm>
            <a:off x="3429000" y="1463040"/>
            <a:ext cx="365760" cy="3657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FileResource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re-read each time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2801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class dot"/>
          <p:cNvSpPr/>
          <p:nvPr/>
        </p:nvSpPr>
        <p:spPr>
          <a:xfrm>
            <a:off x="6217920" y="1463040"/>
            <a:ext cx="365760" cy="36576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BinaryResource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bytes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57200" y="28803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class dot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rgbClr val="7A4EAB"/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DirectoryResource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as JSON list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246120" y="28803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class dot"/>
          <p:cNvSpPr/>
          <p:nvPr/>
        </p:nvSpPr>
        <p:spPr>
          <a:xfrm>
            <a:off x="3429000" y="3063240"/>
            <a:ext cx="365760" cy="36576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HttpResource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URL on read</a:t>
            </a:r>
            <a:endParaRPr lang="en-US" sz="1400" dirty="0"/>
          </a:p>
        </p:txBody>
      </p:sp>
      <p:sp>
        <p:nvSpPr>
          <p:cNvPr id="23" name="tip card"/>
          <p:cNvSpPr/>
          <p:nvPr/>
        </p:nvSpPr>
        <p:spPr>
          <a:xfrm>
            <a:off x="6080760" y="28803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E8F1F2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mcp.add_resource(obj)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must be absolute. Build from __file__.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security checklist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URI parameter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663440" y="123444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8" name="badge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234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paths, stay in base folder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57200" y="21031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594360" y="224028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103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ResourceSecurity on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4663440" y="21031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4800600" y="224028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103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any resource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29718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least data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663440" y="297180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800600" y="310896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971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and authorise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57200" y="38404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28" name="badge"/>
          <p:cNvSpPr/>
          <p:nvPr/>
        </p:nvSpPr>
        <p:spPr>
          <a:xfrm>
            <a:off x="594360" y="3977640"/>
            <a:ext cx="457200" cy="45720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size and line counts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4663440" y="384048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FBE3E1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32" name="badge"/>
          <p:cNvSpPr/>
          <p:nvPr/>
        </p:nvSpPr>
        <p:spPr>
          <a:xfrm>
            <a:off x="4800600" y="3977640"/>
            <a:ext cx="457200" cy="457200"/>
          </a:xfrm>
          <a:prstGeom prst="ellipse">
            <a:avLst/>
          </a:prstGeom>
          <a:solidFill>
            <a:srgbClr val="B3382C"/>
          </a:solidFill>
          <a:ln w="12700">
            <a:solidFill>
              <a:srgbClr val="B3382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data, not commands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results from a real run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listed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256032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phases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766560" y="123444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4F8F9"/>
          </a:solidFill>
          <a:ln w="9525">
            <a:solidFill>
              <a:srgbClr val="C9D3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list_changed pushed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01_resources_server.py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FastMCP: 7 steps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02_resources_client.py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real output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03_base_server_resources.py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handlers + listen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04_base_client.py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client, error -32002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Prompts</a:t>
            </a:r>
            <a:endParaRPr lang="en-US" sz="4000" dirty="0"/>
          </a:p>
        </p:txBody>
      </p:sp>
      <p:sp>
        <p:nvSpPr>
          <p:cNvPr id="3" name="next card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828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User-triggered templates that can embed resources</a:t>
            </a:r>
            <a:endParaRPr lang="en-US" sz="1400" dirty="0"/>
          </a:p>
        </p:txBody>
      </p:sp>
      <p:sp>
        <p:nvSpPr>
          <p:cNvPr id="6" name="next card"/>
          <p:cNvSpPr/>
          <p:nvPr/>
        </p:nvSpPr>
        <p:spPr>
          <a:xfrm>
            <a:off x="548640" y="28346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Roots, Sampling, Elicitation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server asks the client for folders, models and input</a:t>
            </a:r>
            <a:endParaRPr lang="en-US" sz="1400" dirty="0"/>
          </a:p>
        </p:txBody>
      </p:sp>
      <p:sp>
        <p:nvSpPr>
          <p:cNvPr id="9" name="next card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0A3540"/>
          </a:solidFill>
          <a:ln w="12700">
            <a:solidFill>
              <a:srgbClr val="8FD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projects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840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inside Agno and LangGraph agents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P Resources">
  <a:themeElements>
    <a:clrScheme name="MCP Resources">
      <a:dk1>
        <a:srgbClr val="1F2933"/>
      </a:dk1>
      <a:lt1>
        <a:srgbClr val="FFFFFF"/>
      </a:lt1>
      <a:dk2>
        <a:srgbClr val="0F4C5C"/>
      </a:dk2>
      <a:lt2>
        <a:srgbClr val="E8F1F2"/>
      </a:lt2>
      <a:accent1>
        <a:srgbClr val="0F4C5C"/>
      </a:accent1>
      <a:accent2>
        <a:srgbClr val="E36414"/>
      </a:accent2>
      <a:accent3>
        <a:srgbClr val="2E7D4F"/>
      </a:accent3>
      <a:accent4>
        <a:srgbClr val="2F6DB5"/>
      </a:accent4>
      <a:accent5>
        <a:srgbClr val="B26A00"/>
      </a:accent5>
      <a:accent6>
        <a:srgbClr val="7A4EAB"/>
      </a:accent6>
      <a:hlink>
        <a:srgbClr val="2F6DB5"/>
      </a:hlink>
      <a:folHlink>
        <a:srgbClr val="7A4EAB"/>
      </a:folHlink>
    </a:clrScheme>
    <a:fontScheme name="MCP Resourc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Resources: Infographic Slides</dc:title>
  <dc:subject>PptxGenJS Presentation</dc:subject>
  <dc:creator>MCP Mentoring Path</dc:creator>
  <cp:lastModifiedBy>MCP Mentoring Path</cp:lastModifiedBy>
  <cp:revision>1</cp:revision>
  <dcterms:created xsi:type="dcterms:W3CDTF">2026-10-05T00:46:45Z</dcterms:created>
  <dcterms:modified xsi:type="dcterms:W3CDTF">2026-10-05T00:46:45Z</dcterms:modified>
</cp:coreProperties>
</file>