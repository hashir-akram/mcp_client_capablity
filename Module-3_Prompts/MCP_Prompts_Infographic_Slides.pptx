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2589017-1eca-2432-2443-79e4dc954577}">
          <p14:sldIdLst>
            <p14:sldId id="256"/>
          </p14:sldIdLst>
        </p14:section>
        <p14:section name="Concepts" id="{cca716cf-c0e6-3fc6-4778-00fa8b58db2b}">
          <p14:sldIdLst>
            <p14:sldId id="257"/>
            <p14:sldId id="258"/>
            <p14:sldId id="259"/>
            <p14:sldId id="260"/>
          </p14:sldIdLst>
        </p14:section>
        <p14:section name="Lifecycle" id="{e55587c9-76bf-1164-508f-acebcfed5d84}">
          <p14:sldIdLst>
            <p14:sldId id="261"/>
            <p14:sldId id="262"/>
          </p14:sldIdLst>
        </p14:section>
        <p14:section name="Build" id="{1d78edc2-3233-4a34-8246-ffaa7271248b}">
          <p14:sldIdLst>
            <p14:sldId id="263"/>
            <p14:sldId id="264"/>
            <p14:sldId id="265"/>
            <p14:sldId id="266"/>
            <p14:sldId id="267"/>
          </p14:sldIdLst>
        </p14:section>
        <p14:section name="Code" id="{a86c7208-f0a2-c375-1fb0-e0795d1744e2}">
          <p14:sldIdLst>
            <p14:sldId id="268"/>
            <p14:sldId id="269"/>
            <p14:sldId id="270"/>
          </p14:sldIdLst>
        </p14:section>
        <p14:section name="Safety" id="{06c18dc4-efaa-f63e-ebe4-27032a6b9dbe}">
          <p14:sldIdLst>
            <p14:sldId id="271"/>
          </p14:sldIdLst>
        </p14:section>
        <p14:section name="Demo" id="{3b200502-5bb1-9b1a-6f71-7e0f407d7551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server feature. The slash-command chips preview how a host might show prompts to a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sentence as last lesson: tools act, resources inform, prompts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expert template shared by everyone; the user only supplies what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no system role in MCP prompt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Arguments have only name, description and required: no type field. Values are strings.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2026-07-28: stateless protocol, caching hints on lists, promptsListChanged via subscriptions/listen.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in steps 1 to 4 are reported to the client before your function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3b of the demo omits the optional arguments and gets python and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 arguments have no type field; FastMCP converts for you on the server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decides how to map messages to its model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says how to ask; resource is what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in the demo: warn and replace return SECOND; ignore returns FIRST; error raises.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guide section 10,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5. Treat arguments as untrusted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FastMCP does all of this from decorators.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four: design. Last four: security. Prompt injection via embedded tickets is the classic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scripts executed with Python 3.12, fastmcp 4.0.11, mcp 2.3.0.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3, PART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Prompts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templates: arguments, messages, lifecycle</a:t>
            </a:r>
            <a:endParaRPr lang="en-US" sz="2200" dirty="0"/>
          </a:p>
        </p:txBody>
      </p:sp>
      <p:sp>
        <p:nvSpPr>
          <p:cNvPr id="5" name="prompt 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/code_review</a:t>
            </a:r>
            <a:endParaRPr lang="en-US" sz="1500" dirty="0"/>
          </a:p>
        </p:txBody>
      </p:sp>
      <p:sp>
        <p:nvSpPr>
          <p:cNvPr id="7" name="prompt 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/incident_summary</a:t>
            </a:r>
            <a:endParaRPr lang="en-US" sz="1500" dirty="0"/>
          </a:p>
        </p:txBody>
      </p:sp>
      <p:sp>
        <p:nvSpPr>
          <p:cNvPr id="9" name="prompt 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/classify_ticket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application, user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label"/>
          <p:cNvSpPr/>
          <p:nvPr/>
        </p:nvSpPr>
        <p:spPr>
          <a:xfrm>
            <a:off x="64008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 call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24612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label"/>
          <p:cNvSpPr/>
          <p:nvPr/>
        </p:nvSpPr>
        <p:spPr>
          <a:xfrm>
            <a:off x="342900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 load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03504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label"/>
          <p:cNvSpPr/>
          <p:nvPr/>
        </p:nvSpPr>
        <p:spPr>
          <a:xfrm>
            <a:off x="621792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4E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 use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instruction templates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a form letter with blanks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owns the expert wording</a:t>
            </a:r>
            <a:endParaRPr lang="en-US" sz="1400" dirty="0"/>
          </a:p>
        </p:txBody>
      </p:sp>
      <p:sp>
        <p:nvSpPr>
          <p:cNvPr id="5" name="code panel"/>
          <p:cNvSpPr/>
          <p:nvPr/>
        </p:nvSpPr>
        <p:spPr>
          <a:xfrm>
            <a:off x="640080" y="1783080"/>
            <a:ext cx="4480560" cy="2468880"/>
          </a:xfrm>
          <a:prstGeom prst="roundRect">
            <a:avLst>
              <a:gd name="adj" fmla="val 296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senior {language} engineer.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the code below.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ONLY on: {focus}.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a numbered list,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 one-line fix.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{code}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5394960" y="2560320"/>
            <a:ext cx="457200" cy="365760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594360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the blanks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1" name="input box"/>
          <p:cNvSpPr/>
          <p:nvPr/>
        </p:nvSpPr>
        <p:spPr>
          <a:xfrm>
            <a:off x="6126480" y="208483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f(x): ...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4" name="input box"/>
          <p:cNvSpPr/>
          <p:nvPr/>
        </p:nvSpPr>
        <p:spPr>
          <a:xfrm>
            <a:off x="6126480" y="286207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7" name="input box"/>
          <p:cNvSpPr/>
          <p:nvPr/>
        </p:nvSpPr>
        <p:spPr>
          <a:xfrm>
            <a:off x="6126480" y="363931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639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characteristics of prompts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picks it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fill the blanks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prompts/list shows them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messages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calls the LLM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assistant only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embed resources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Anatomy: definition in, messages out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prompts/list  (definition)</a:t>
            </a:r>
            <a:endParaRPr lang="en-US" sz="1400" dirty="0"/>
          </a:p>
        </p:txBody>
      </p:sp>
      <p:sp>
        <p:nvSpPr>
          <p:cNvPr id="5" name="code panel"/>
          <p:cNvSpPr/>
          <p:nvPr/>
        </p:nvSpPr>
        <p:spPr>
          <a:xfrm>
            <a:off x="640080" y="17373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    code_review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Review code...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code      required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language  optional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focus     optional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4553712" y="2560320"/>
            <a:ext cx="411480" cy="365760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5029200" y="12344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prompts/get  (result)</a:t>
            </a:r>
            <a:endParaRPr lang="en-US" sz="1400" dirty="0"/>
          </a:p>
        </p:txBody>
      </p:sp>
      <p:sp>
        <p:nvSpPr>
          <p:cNvPr id="10" name="code panel"/>
          <p:cNvSpPr/>
          <p:nvPr/>
        </p:nvSpPr>
        <p:spPr>
          <a:xfrm>
            <a:off x="5212080" y="173736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8288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assistant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resource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eight-phase lifecycle</a:t>
            </a:r>
            <a:endParaRPr lang="en-US" sz="3000" dirty="0"/>
          </a:p>
        </p:txBody>
      </p:sp>
      <p:sp>
        <p:nvSpPr>
          <p:cNvPr id="3" name="connector"/>
          <p:cNvSpPr/>
          <p:nvPr/>
        </p:nvSpPr>
        <p:spPr>
          <a:xfrm>
            <a:off x="1124712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475488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56032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</a:t>
            </a:r>
            <a:endParaRPr lang="en-US" sz="1100" dirty="0"/>
          </a:p>
        </p:txBody>
      </p:sp>
      <p:sp>
        <p:nvSpPr>
          <p:cNvPr id="8" name="connector"/>
          <p:cNvSpPr/>
          <p:nvPr/>
        </p:nvSpPr>
        <p:spPr>
          <a:xfrm>
            <a:off x="2203704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155448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13" name="connector"/>
          <p:cNvSpPr/>
          <p:nvPr/>
        </p:nvSpPr>
        <p:spPr>
          <a:xfrm>
            <a:off x="3282696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2633472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3347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414016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14016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prompts/list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4361688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3712464" y="1508760"/>
            <a:ext cx="548640" cy="54864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</a:t>
            </a:r>
            <a:endParaRPr lang="en-US" sz="1100" dirty="0"/>
          </a:p>
        </p:txBody>
      </p:sp>
      <p:sp>
        <p:nvSpPr>
          <p:cNvPr id="23" name="connector"/>
          <p:cNvSpPr/>
          <p:nvPr/>
        </p:nvSpPr>
        <p:spPr>
          <a:xfrm>
            <a:off x="5440680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791456" y="15087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9145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prompts/get</a:t>
            </a:r>
            <a:endParaRPr lang="en-US" sz="1100" dirty="0"/>
          </a:p>
        </p:txBody>
      </p:sp>
      <p:sp>
        <p:nvSpPr>
          <p:cNvPr id="28" name="connector"/>
          <p:cNvSpPr/>
          <p:nvPr/>
        </p:nvSpPr>
        <p:spPr>
          <a:xfrm>
            <a:off x="6519672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5870448" y="150876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7044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650992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50992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calls LLM</a:t>
            </a:r>
            <a:endParaRPr lang="en-US" sz="1100" dirty="0"/>
          </a:p>
        </p:txBody>
      </p:sp>
      <p:sp>
        <p:nvSpPr>
          <p:cNvPr id="33" name="connector"/>
          <p:cNvSpPr/>
          <p:nvPr/>
        </p:nvSpPr>
        <p:spPr>
          <a:xfrm>
            <a:off x="7598664" y="1783080"/>
            <a:ext cx="45720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6949440" y="1508760"/>
            <a:ext cx="548640" cy="54864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729984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729984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list_changed</a:t>
            </a:r>
            <a:endParaRPr lang="en-US" sz="1100" dirty="0"/>
          </a:p>
        </p:txBody>
      </p:sp>
      <p:sp>
        <p:nvSpPr>
          <p:cNvPr id="38" name="badge"/>
          <p:cNvSpPr/>
          <p:nvPr/>
        </p:nvSpPr>
        <p:spPr>
          <a:xfrm>
            <a:off x="8028432" y="1508760"/>
            <a:ext cx="548640" cy="54864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284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808976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808976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/ end</a:t>
            </a:r>
            <a:endParaRPr lang="en-US" sz="1100" dirty="0"/>
          </a:p>
        </p:txBody>
      </p:sp>
      <p:sp>
        <p:nvSpPr>
          <p:cNvPr id="42" name="card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phase 4 belongs to the user, and only phase 6 involves the model.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never calls the LLM: it returns messages, and the host decides how to send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prompts/get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prompt by name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prompt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383280" y="141732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required args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required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172200" y="14173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strings to types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list, bool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constraints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ge, le, Literal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4612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383280" y="29718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function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if async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350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into messages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becomes 1 user msg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argument arrives as a string. Non-strings travel as JSON 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Arguments: required, optional, typed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23444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code_review(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code: str,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language: str = "python",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focus: Literal["bugs","security",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"performance","readability"] = "bugs",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docstring = description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577840" y="12344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arg label"/>
          <p:cNvSpPr/>
          <p:nvPr/>
        </p:nvSpPr>
        <p:spPr>
          <a:xfrm>
            <a:off x="5715000" y="13716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13716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= required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577840" y="2258568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arg label"/>
          <p:cNvSpPr/>
          <p:nvPr/>
        </p:nvSpPr>
        <p:spPr>
          <a:xfrm>
            <a:off x="5715000" y="23957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761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default = optional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577840" y="3282696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arg label"/>
          <p:cNvSpPr/>
          <p:nvPr/>
        </p:nvSpPr>
        <p:spPr>
          <a:xfrm>
            <a:off x="5715000" y="34198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15000" y="341985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3785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Literal[...] = dropdown of 4 values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means required. A default means optional.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a string on the wire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Python type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Client sends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Server receives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"MCP"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"MCP"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"3"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"true"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list[str]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"[\"Python\",\"APIs\"]"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["Python", "APIs"]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le=30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"99"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rejected: out of range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sending a Python list directly. Use json.dumps(["Python"]).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return becomes messages</a:t>
            </a:r>
            <a:endParaRPr lang="en-US" sz="3000" dirty="0"/>
          </a:p>
        </p:txBody>
      </p:sp>
      <p:sp>
        <p:nvSpPr>
          <p:cNvPr id="3" name="python value"/>
          <p:cNvSpPr/>
          <p:nvPr/>
        </p:nvSpPr>
        <p:spPr>
          <a:xfrm>
            <a:off x="457200" y="128016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00" dirty="0"/>
          </a:p>
        </p:txBody>
      </p:sp>
      <p:sp>
        <p:nvSpPr>
          <p:cNvPr id="5" name="arrow"/>
          <p:cNvSpPr/>
          <p:nvPr/>
        </p:nvSpPr>
        <p:spPr>
          <a:xfrm>
            <a:off x="4114800" y="1481328"/>
            <a:ext cx="548640" cy="292608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protocol result"/>
          <p:cNvSpPr/>
          <p:nvPr/>
        </p:nvSpPr>
        <p:spPr>
          <a:xfrm>
            <a:off x="4846320" y="128016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message</a:t>
            </a:r>
            <a:endParaRPr lang="en-US" sz="1500" dirty="0"/>
          </a:p>
        </p:txBody>
      </p:sp>
      <p:sp>
        <p:nvSpPr>
          <p:cNvPr id="8" name="python value"/>
          <p:cNvSpPr/>
          <p:nvPr/>
        </p:nvSpPr>
        <p:spPr>
          <a:xfrm>
            <a:off x="457200" y="214884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list[Message]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4114800" y="2350008"/>
            <a:ext cx="548640" cy="292608"/>
          </a:xfrm>
          <a:prstGeom prst="rightArrow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protocol result"/>
          <p:cNvSpPr/>
          <p:nvPr/>
        </p:nvSpPr>
        <p:spPr>
          <a:xfrm>
            <a:off x="4846320" y="214884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messages, chosen roles</a:t>
            </a:r>
            <a:endParaRPr lang="en-US" sz="1500" dirty="0"/>
          </a:p>
        </p:txBody>
      </p:sp>
      <p:sp>
        <p:nvSpPr>
          <p:cNvPr id="13" name="python value"/>
          <p:cNvSpPr/>
          <p:nvPr/>
        </p:nvSpPr>
        <p:spPr>
          <a:xfrm>
            <a:off x="457200" y="301752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PromptResult([...])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4114800" y="3218688"/>
            <a:ext cx="548640" cy="292608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protocol result"/>
          <p:cNvSpPr/>
          <p:nvPr/>
        </p:nvSpPr>
        <p:spPr>
          <a:xfrm>
            <a:off x="4846320" y="301752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017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description + meta</a:t>
            </a:r>
            <a:endParaRPr lang="en-US" sz="1500" dirty="0"/>
          </a:p>
        </p:txBody>
      </p:sp>
      <p:sp>
        <p:nvSpPr>
          <p:cNvPr id="18" name="python value"/>
          <p:cNvSpPr/>
          <p:nvPr/>
        </p:nvSpPr>
        <p:spPr>
          <a:xfrm>
            <a:off x="457200" y="388620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86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Message(embedded)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4114800" y="4087368"/>
            <a:ext cx="548640" cy="292608"/>
          </a:xfrm>
          <a:prstGeom prst="rightArrow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1" name="protocol result"/>
          <p:cNvSpPr/>
          <p:nvPr/>
        </p:nvSpPr>
        <p:spPr>
          <a:xfrm>
            <a:off x="4846320" y="388620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886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inside a message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user or assistant. There is no system role in MCP prompts.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messages and embedded resources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teach by example</a:t>
            </a:r>
            <a:endParaRPr lang="en-US" sz="1400" dirty="0"/>
          </a:p>
        </p:txBody>
      </p:sp>
      <p:sp>
        <p:nvSpPr>
          <p:cNvPr id="5" name="role"/>
          <p:cNvSpPr/>
          <p:nvPr/>
        </p:nvSpPr>
        <p:spPr>
          <a:xfrm>
            <a:off x="640080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billing, technical, account</a:t>
            </a:r>
            <a:endParaRPr lang="en-US" sz="1200" dirty="0"/>
          </a:p>
        </p:txBody>
      </p:sp>
      <p:sp>
        <p:nvSpPr>
          <p:cNvPr id="8" name="role"/>
          <p:cNvSpPr/>
          <p:nvPr/>
        </p:nvSpPr>
        <p:spPr>
          <a:xfrm>
            <a:off x="640080" y="2249424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Understood. Send ticket.</a:t>
            </a:r>
            <a:endParaRPr lang="en-US" sz="1200" dirty="0"/>
          </a:p>
        </p:txBody>
      </p:sp>
      <p:sp>
        <p:nvSpPr>
          <p:cNvPr id="11" name="role"/>
          <p:cNvSpPr/>
          <p:nvPr/>
        </p:nvSpPr>
        <p:spPr>
          <a:xfrm>
            <a:off x="640080" y="276148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614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charged twice</a:t>
            </a:r>
            <a:endParaRPr lang="en-US" sz="1200" dirty="0"/>
          </a:p>
        </p:txBody>
      </p:sp>
      <p:sp>
        <p:nvSpPr>
          <p:cNvPr id="14" name="role"/>
          <p:cNvSpPr/>
          <p:nvPr/>
        </p:nvSpPr>
        <p:spPr>
          <a:xfrm>
            <a:off x="640080" y="327355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735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273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17" name="role"/>
          <p:cNvSpPr/>
          <p:nvPr/>
        </p:nvSpPr>
        <p:spPr>
          <a:xfrm>
            <a:off x="640080" y="378561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85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78561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{real input}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Resource together</a:t>
            </a:r>
            <a:endParaRPr lang="en-US" sz="1400" dirty="0"/>
          </a:p>
        </p:txBody>
      </p:sp>
      <p:sp>
        <p:nvSpPr>
          <p:cNvPr id="22" name="message"/>
          <p:cNvSpPr/>
          <p:nvPr/>
        </p:nvSpPr>
        <p:spPr>
          <a:xfrm>
            <a:off x="4846320" y="17830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 attached document.</a:t>
            </a:r>
            <a:endParaRPr lang="en-US" sz="1300" dirty="0"/>
          </a:p>
        </p:txBody>
      </p:sp>
      <p:sp>
        <p:nvSpPr>
          <p:cNvPr id="24" name="message"/>
          <p:cNvSpPr/>
          <p:nvPr/>
        </p:nvSpPr>
        <p:spPr>
          <a:xfrm>
            <a:off x="4846320" y="25603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policy://leave  (embedded resource)</a:t>
            </a:r>
            <a:endParaRPr lang="en-US" sz="1300" dirty="0"/>
          </a:p>
        </p:txBody>
      </p:sp>
      <p:sp>
        <p:nvSpPr>
          <p:cNvPr id="26" name="message"/>
          <p:cNvSpPr/>
          <p:nvPr/>
        </p:nvSpPr>
        <p:spPr>
          <a:xfrm>
            <a:off x="4846320" y="33375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3337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{employee_question}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reduces made-up answers.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names: four policies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policy label"/>
          <p:cNvSpPr/>
          <p:nvPr/>
        </p:nvSpPr>
        <p:spPr>
          <a:xfrm>
            <a:off x="640080" y="1417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ValueError at startup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production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policy label"/>
          <p:cNvSpPr/>
          <p:nvPr/>
        </p:nvSpPr>
        <p:spPr>
          <a:xfrm>
            <a:off x="4846320" y="1417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keeps the NEW one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development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policy label"/>
          <p:cNvSpPr/>
          <p:nvPr/>
        </p:nvSpPr>
        <p:spPr>
          <a:xfrm>
            <a:off x="640080" y="3154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keeps the NEW one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hot reload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policy label"/>
          <p:cNvSpPr/>
          <p:nvPr/>
        </p:nvSpPr>
        <p:spPr>
          <a:xfrm>
            <a:off x="4846320" y="3154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keeps the FIRST one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plugins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a multi-message prompt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classify_ticket(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ticket_text: str) -&gt; PromptResult: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PromptResult([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Message("Classify ... label only.",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role="user"),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Message("Understood.", role="assistant"),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Message("Ticket: charged twice"),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Message("billing", role="assistant"),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Message(f"Ticket: {ticket_text}"),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 description="Few-shot classifier")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PromptResult controls every message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1 sets task and output rule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3-4 are the worked example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5 is the real request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async prompt with validation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incident_summary(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incident_id: str,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audience: Literal["engineers",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"executives"] = "executives",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DATA_DIR / f"incident-{incident_id}.txt"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path.is_file():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ValueError("Unknown incident")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path.read_text()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 = (... depends on audience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f"Summarise for {audience}...{record}"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def: FastMCP awaits it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touching files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changes the wording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ids with a pattern in production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the base (low-level) server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on_get_prompt(ctx, params):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= PROMPTS.get(params.name)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prompt is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MCPError(code=-32602,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 = params.arguments or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 = [a.name for a in prompt.arguments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if a.required and a.name not in args]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missing: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MCPError(code=-32602,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types.GetPromptResult(messages=[...])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= Server("x", on_list_prompts=...,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on_get_prompt=on_get_prompt)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up the prompt yourself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enforce required arguments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use code -32602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are passed to Server()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design and security checklist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job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for optional args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1031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 user data in fences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1031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2402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output format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untrusted text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718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templates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8404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data may inject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8404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descriptions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results from a real run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listed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56032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 caught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policies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6656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phases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01_prompts_server.py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FastMCP: 8 steps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02_prompts_client.py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real output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03_base_server_prompts.py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list/get handlers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04_base_client.py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client, error -32602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Client features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828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folders the server may work in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asks the user for input mid-task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asks the client to run the 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Prompts">
  <a:themeElements>
    <a:clrScheme name="MCP Prompts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Promp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Prompts: Infographic and Code Slides</dc:title>
  <dc:subject>PptxGenJS Presentation</dc:subject>
  <dc:creator>MCP Mentoring Path</dc:creator>
  <cp:lastModifiedBy>MCP Mentoring Path</cp:lastModifiedBy>
  <cp:revision>1</cp:revision>
  <dcterms:created xsi:type="dcterms:W3CDTF">2026-10-05T01:15:59Z</dcterms:created>
  <dcterms:modified xsi:type="dcterms:W3CDTF">2026-10-05T01:15:59Z</dcterms:modified>
</cp:coreProperties>
</file>