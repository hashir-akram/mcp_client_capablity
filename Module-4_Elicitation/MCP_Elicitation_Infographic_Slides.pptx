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4a4931f-f398-d266-6979-f276742ecb6a}">
          <p14:sldIdLst>
            <p14:sldId id="256"/>
          </p14:sldIdLst>
        </p14:section>
        <p14:section name="Idea" id="{05bd2ff1-d186-7e9c-1716-2a356d1af9f7}">
          <p14:sldIdLst>
            <p14:sldId id="257"/>
            <p14:sldId id="258"/>
            <p14:sldId id="259"/>
          </p14:sldIdLst>
        </p14:section>
        <p14:section name="Lifecycle" id="{f328a350-86f9-cb3d-4c95-3a8d6a0d1538}">
          <p14:sldIdLst>
            <p14:sldId id="260"/>
            <p14:sldId id="261"/>
          </p14:sldIdLst>
        </p14:section>
        <p14:section name="Forms" id="{0cab4398-f6f0-e751-b830-db51fb04a346}">
          <p14:sldIdLst>
            <p14:sldId id="262"/>
            <p14:sldId id="263"/>
          </p14:sldIdLst>
        </p14:section>
        <p14:section name="Code" id="{7fb19863-b5dd-b489-7643-30864dc7b99a}">
          <p14:sldIdLst>
            <p14:sldId id="264"/>
            <p14:sldId id="265"/>
            <p14:sldId id="266"/>
          </p14:sldIdLst>
        </p14:section>
        <p14:section name="Safety" id="{5eb7e305-5531-0307-e873-5ad55822cc77}">
          <p14:sldIdLst>
            <p14:sldId id="267"/>
            <p14:sldId id="268"/>
          </p14:sldIdLst>
        </p14:section>
        <p14:section name="Spec" id="{6109d44b-80ad-cba5-1071-ca9525bf9633}">
          <p14:sldIdLst>
            <p14:sldId id="269"/>
          </p14:sldIdLst>
        </p14:section>
        <p14:section name="Wrap" id="{d0b3fe87-c60a-b785-6c10-1f00cbcde77e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client feature, and the only one that is not deprecated in spec 2026-07-28.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person always has the right to say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Elicitation gives the tool a validated, typed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run: only the first behaviour changed any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is present only when the action is accept.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schema printed by the demo client in PART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Forms are small and flat so any host can draw them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is why the demo client answers {"value": True} for the yes/no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run: yes cancelled; no kept; decline and cancel changed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of the demo prints the schema built from this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run PART 5: success on try 2 in one case; gave up after 3 in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specification forbids requesting sensitive information with form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 1-6 for servers; 7-8 for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run: Goa chosen in round 1 was read back in round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client feature: the server asks, the client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MENTORING PATH  |  MODULE 4  |  LESSON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Elicitation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asks the user, and the user can say no</a:t>
            </a:r>
            <a:endParaRPr lang="en-US" sz="2200" dirty="0"/>
          </a:p>
        </p:txBody>
      </p:sp>
      <p:sp>
        <p:nvSpPr>
          <p:cNvPr id="5" name="chip"/>
          <p:cNvSpPr/>
          <p:nvPr/>
        </p:nvSpPr>
        <p:spPr>
          <a:xfrm>
            <a:off x="54864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</a:t>
            </a:r>
            <a:endParaRPr lang="en-US" sz="1600" dirty="0"/>
          </a:p>
        </p:txBody>
      </p:sp>
      <p:sp>
        <p:nvSpPr>
          <p:cNvPr id="7" name="chip"/>
          <p:cNvSpPr/>
          <p:nvPr/>
        </p:nvSpPr>
        <p:spPr>
          <a:xfrm>
            <a:off x="324612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decline</a:t>
            </a:r>
            <a:endParaRPr lang="en-US" sz="1600" dirty="0"/>
          </a:p>
        </p:txBody>
      </p:sp>
      <p:sp>
        <p:nvSpPr>
          <p:cNvPr id="9" name="chip"/>
          <p:cNvSpPr/>
          <p:nvPr/>
        </p:nvSpPr>
        <p:spPr>
          <a:xfrm>
            <a:off x="594360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waiter asks you</a:t>
            </a:r>
            <a:endParaRPr lang="en-US" sz="3000" dirty="0"/>
          </a:p>
        </p:txBody>
      </p:sp>
      <p:sp>
        <p:nvSpPr>
          <p:cNvPr id="3" name="actor"/>
          <p:cNvSpPr/>
          <p:nvPr/>
        </p:nvSpPr>
        <p:spPr>
          <a:xfrm>
            <a:off x="457200" y="118872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18872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food (call a tool)</a:t>
            </a:r>
            <a:endParaRPr lang="en-US" sz="1600" dirty="0"/>
          </a:p>
        </p:txBody>
      </p:sp>
      <p:sp>
        <p:nvSpPr>
          <p:cNvPr id="6" name="actor"/>
          <p:cNvSpPr/>
          <p:nvPr/>
        </p:nvSpPr>
        <p:spPr>
          <a:xfrm>
            <a:off x="457200" y="205740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5740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05740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"Spicy or mild? Any allergies?"</a:t>
            </a:r>
            <a:endParaRPr lang="en-US" sz="1600" dirty="0"/>
          </a:p>
        </p:txBody>
      </p:sp>
      <p:sp>
        <p:nvSpPr>
          <p:cNvPr id="9" name="actor"/>
          <p:cNvSpPr/>
          <p:nvPr/>
        </p:nvSpPr>
        <p:spPr>
          <a:xfrm>
            <a:off x="457200" y="292608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92608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you, brings the answer back</a:t>
            </a:r>
            <a:endParaRPr lang="en-US" sz="1600" dirty="0"/>
          </a:p>
        </p:txBody>
      </p:sp>
      <p:sp>
        <p:nvSpPr>
          <p:cNvPr id="12" name="actor"/>
          <p:cNvSpPr/>
          <p:nvPr/>
        </p:nvSpPr>
        <p:spPr>
          <a:xfrm>
            <a:off x="457200" y="379476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947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79476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say no thanks, or wave away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= server. Waiter = client. You = the user.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tool arguments? Why not sampling?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arguments</a:t>
            </a:r>
            <a:endParaRPr lang="en-US" sz="1600" dirty="0"/>
          </a:p>
        </p:txBody>
      </p:sp>
      <p:sp>
        <p:nvSpPr>
          <p:cNvPr id="5" name="badge"/>
          <p:cNvSpPr/>
          <p:nvPr/>
        </p:nvSpPr>
        <p:spPr>
          <a:xfrm>
            <a:off x="640080" y="1828800"/>
            <a:ext cx="329184" cy="329184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013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BEFORE the tool starts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640080" y="2423160"/>
            <a:ext cx="329184" cy="329184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3957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by the model: it may guess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640080" y="3017520"/>
            <a:ext cx="329184" cy="329184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990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confirm a risky step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640080" y="3611880"/>
            <a:ext cx="329184" cy="329184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5844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depend on earlier answers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4663440" y="12344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DDF2E4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</a:t>
            </a:r>
            <a:endParaRPr lang="en-US" sz="1600" dirty="0"/>
          </a:p>
        </p:txBody>
      </p:sp>
      <p:sp>
        <p:nvSpPr>
          <p:cNvPr id="19" name="badge"/>
          <p:cNvSpPr/>
          <p:nvPr/>
        </p:nvSpPr>
        <p:spPr>
          <a:xfrm>
            <a:off x="4846320" y="1828800"/>
            <a:ext cx="329184" cy="32918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18013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WHILE the tool runs</a:t>
            </a:r>
            <a:endParaRPr lang="en-US" sz="1300" dirty="0"/>
          </a:p>
        </p:txBody>
      </p:sp>
      <p:sp>
        <p:nvSpPr>
          <p:cNvPr id="22" name="badge"/>
          <p:cNvSpPr/>
          <p:nvPr/>
        </p:nvSpPr>
        <p:spPr>
          <a:xfrm>
            <a:off x="4846320" y="2423160"/>
            <a:ext cx="329184" cy="32918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23957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by the person directly</a:t>
            </a:r>
            <a:endParaRPr lang="en-US" sz="1300" dirty="0"/>
          </a:p>
        </p:txBody>
      </p:sp>
      <p:sp>
        <p:nvSpPr>
          <p:cNvPr id="25" name="badge"/>
          <p:cNvSpPr/>
          <p:nvPr/>
        </p:nvSpPr>
        <p:spPr>
          <a:xfrm>
            <a:off x="4846320" y="3017520"/>
            <a:ext cx="329184" cy="32918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2990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"Are you sure?"</a:t>
            </a:r>
            <a:endParaRPr lang="en-US" sz="1300" dirty="0"/>
          </a:p>
        </p:txBody>
      </p:sp>
      <p:sp>
        <p:nvSpPr>
          <p:cNvPr id="28" name="badge"/>
          <p:cNvSpPr/>
          <p:nvPr/>
        </p:nvSpPr>
        <p:spPr>
          <a:xfrm>
            <a:off x="4846320" y="3611880"/>
            <a:ext cx="329184" cy="32918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632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0" y="35844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 multi-step conversation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asks the AI model. Elicitation asks the PERSON.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outcomes: handle all of them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label"/>
          <p:cNvSpPr/>
          <p:nvPr/>
        </p:nvSpPr>
        <p:spPr>
          <a:xfrm>
            <a:off x="640080" y="141732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user...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filled the form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175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server...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46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data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46120" y="12344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1" name="label"/>
          <p:cNvSpPr/>
          <p:nvPr/>
        </p:nvSpPr>
        <p:spPr>
          <a:xfrm>
            <a:off x="3429000" y="141732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decline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031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user...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NO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0175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server...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246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politely; do not ask again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6035040" y="12344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8" name="label"/>
          <p:cNvSpPr/>
          <p:nvPr/>
        </p:nvSpPr>
        <p:spPr>
          <a:xfrm>
            <a:off x="6217920" y="141732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1031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user...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without deciding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0175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server...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246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stop; may ask later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"no" is a normal result, not a crash.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phases</a:t>
            </a:r>
            <a:endParaRPr lang="en-US" sz="3000" dirty="0"/>
          </a:p>
        </p:txBody>
      </p:sp>
      <p:sp>
        <p:nvSpPr>
          <p:cNvPr id="3" name="connector"/>
          <p:cNvSpPr/>
          <p:nvPr/>
        </p:nvSpPr>
        <p:spPr>
          <a:xfrm>
            <a:off x="1234440" y="1783080"/>
            <a:ext cx="50292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02920" y="150876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2860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2880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can elicit</a:t>
            </a:r>
            <a:endParaRPr lang="en-US" sz="1100" dirty="0"/>
          </a:p>
        </p:txBody>
      </p:sp>
      <p:sp>
        <p:nvSpPr>
          <p:cNvPr id="8" name="connector"/>
          <p:cNvSpPr/>
          <p:nvPr/>
        </p:nvSpPr>
        <p:spPr>
          <a:xfrm>
            <a:off x="2670048" y="1783080"/>
            <a:ext cx="50292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1938528" y="1508760"/>
            <a:ext cx="548640" cy="54864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3852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64208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18488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+ form</a:t>
            </a:r>
            <a:endParaRPr lang="en-US" sz="1100" dirty="0"/>
          </a:p>
        </p:txBody>
      </p:sp>
      <p:sp>
        <p:nvSpPr>
          <p:cNvPr id="13" name="connector"/>
          <p:cNvSpPr/>
          <p:nvPr/>
        </p:nvSpPr>
        <p:spPr>
          <a:xfrm>
            <a:off x="4105656" y="1783080"/>
            <a:ext cx="50292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3374136" y="150876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74136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099816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054096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asks user</a:t>
            </a:r>
            <a:endParaRPr lang="en-US" sz="1100" dirty="0"/>
          </a:p>
        </p:txBody>
      </p:sp>
      <p:sp>
        <p:nvSpPr>
          <p:cNvPr id="18" name="connector"/>
          <p:cNvSpPr/>
          <p:nvPr/>
        </p:nvSpPr>
        <p:spPr>
          <a:xfrm>
            <a:off x="5541264" y="1783080"/>
            <a:ext cx="50292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4809744" y="150876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9744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35424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89704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decides</a:t>
            </a:r>
            <a:endParaRPr lang="en-US" sz="1100" dirty="0"/>
          </a:p>
        </p:txBody>
      </p:sp>
      <p:sp>
        <p:nvSpPr>
          <p:cNvPr id="23" name="connector"/>
          <p:cNvSpPr/>
          <p:nvPr/>
        </p:nvSpPr>
        <p:spPr>
          <a:xfrm>
            <a:off x="6976872" y="1783080"/>
            <a:ext cx="50292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6245352" y="150876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4535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971032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925312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{action, content}</a:t>
            </a:r>
            <a:endParaRPr lang="en-US" sz="1100" dirty="0"/>
          </a:p>
        </p:txBody>
      </p:sp>
      <p:sp>
        <p:nvSpPr>
          <p:cNvPr id="28" name="badge"/>
          <p:cNvSpPr/>
          <p:nvPr/>
        </p:nvSpPr>
        <p:spPr>
          <a:xfrm>
            <a:off x="7680960" y="1508760"/>
            <a:ext cx="548640" cy="548640"/>
          </a:xfrm>
          <a:prstGeom prst="ellipse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checks</a:t>
            </a:r>
            <a:endParaRPr lang="en-US" sz="1100" dirty="0"/>
          </a:p>
        </p:txBody>
      </p:sp>
      <p:sp>
        <p:nvSpPr>
          <p:cNvPr id="32" name="card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should name WHICH server is asking.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 clear Accept, Decline and Cancel choices.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 and the response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4937760" cy="3291840"/>
          </a:xfrm>
          <a:prstGeom prst="roundRect">
            <a:avLst>
              <a:gd name="adj" fmla="val 2222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elicitation/create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mode: "form"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message: "Please fill in your trip details."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requestedSchema: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destination: enum [Goa, Jaipur, Kochi]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nights:      integer 1..14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      string, format 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travel_class: enum, default economy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wants_insurance: boolean, default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required: [destination, nights, email]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EFE8F7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7" name="code panel"/>
          <p:cNvSpPr/>
          <p:nvPr/>
        </p:nvSpPr>
        <p:spPr>
          <a:xfrm>
            <a:off x="5715000" y="1691640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0" y="1783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{action: "accept",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content: {...}}</a:t>
            </a:r>
            <a:endParaRPr lang="en-US" sz="1100" dirty="0"/>
          </a:p>
        </p:txBody>
      </p:sp>
      <p:sp>
        <p:nvSpPr>
          <p:cNvPr id="9" name="code panel"/>
          <p:cNvSpPr/>
          <p:nvPr/>
        </p:nvSpPr>
        <p:spPr>
          <a:xfrm>
            <a:off x="5715000" y="310896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{action: "decline"}</a:t>
            </a:r>
            <a:endParaRPr lang="en-US" sz="1100" dirty="0"/>
          </a:p>
        </p:txBody>
      </p:sp>
      <p:sp>
        <p:nvSpPr>
          <p:cNvPr id="11" name="code panel"/>
          <p:cNvSpPr/>
          <p:nvPr/>
        </p:nvSpPr>
        <p:spPr>
          <a:xfrm>
            <a:off x="5715000" y="379476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{action: "cancel"}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ask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ype label"/>
          <p:cNvSpPr/>
          <p:nvPr/>
        </p:nvSpPr>
        <p:spPr>
          <a:xfrm>
            <a:off x="594360" y="129844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1430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minLength, maxLength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663440" y="11430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8" name="type label"/>
          <p:cNvSpPr/>
          <p:nvPr/>
        </p:nvSpPr>
        <p:spPr>
          <a:xfrm>
            <a:off x="4800600" y="129844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2984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date / URL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1430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57200" y="196596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type label"/>
          <p:cNvSpPr/>
          <p:nvPr/>
        </p:nvSpPr>
        <p:spPr>
          <a:xfrm>
            <a:off x="594360" y="212140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12140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196596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minimum, maximum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663440" y="196596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6" name="type label"/>
          <p:cNvSpPr/>
          <p:nvPr/>
        </p:nvSpPr>
        <p:spPr>
          <a:xfrm>
            <a:off x="4800600" y="212140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12140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196596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minimum, maximum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57200" y="278892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0" name="type label"/>
          <p:cNvSpPr/>
          <p:nvPr/>
        </p:nvSpPr>
        <p:spPr>
          <a:xfrm>
            <a:off x="594360" y="294436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9443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278892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+ default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4663440" y="278892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type label"/>
          <p:cNvSpPr/>
          <p:nvPr/>
        </p:nvSpPr>
        <p:spPr>
          <a:xfrm>
            <a:off x="4800600" y="294436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29443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278892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enum: dropdown</a:t>
            </a:r>
            <a:endParaRPr lang="en-US" sz="1200" dirty="0"/>
          </a:p>
        </p:txBody>
      </p:sp>
      <p:sp>
        <p:nvSpPr>
          <p:cNvPr id="27" name="card"/>
          <p:cNvSpPr/>
          <p:nvPr/>
        </p:nvSpPr>
        <p:spPr>
          <a:xfrm>
            <a:off x="457200" y="361188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8" name="type label"/>
          <p:cNvSpPr/>
          <p:nvPr/>
        </p:nvSpPr>
        <p:spPr>
          <a:xfrm>
            <a:off x="594360" y="376732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7673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several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468880" y="36118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 of enum</a:t>
            </a:r>
            <a:endParaRPr lang="en-US" sz="1200" dirty="0"/>
          </a:p>
        </p:txBody>
      </p:sp>
      <p:sp>
        <p:nvSpPr>
          <p:cNvPr id="31" name="card"/>
          <p:cNvSpPr/>
          <p:nvPr/>
        </p:nvSpPr>
        <p:spPr>
          <a:xfrm>
            <a:off x="4663440" y="370332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54880" y="37033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only: no nesting, no file upload.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shortcuts in FastMCP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  <a:gridCol w="2468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You pass response_type=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User sees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You get back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checkbox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  or  int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text / number 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["economy","business"]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chosen string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[["meal","wifi","lounge"]]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checkboxes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list (may be empty)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Trip  (Pydantic model)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full 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Trip object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values are wrapped in one field named "value": the client answers {"value": true}.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confirm before a risky action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await ctx.elicit(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f"Cancel booking {booking_id}? 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"This cannot be undone.",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response_type=bool)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result.action != "accept":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not_accepted(result)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result.data is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 BOOKINGS[booking_id]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"Booking cancelled."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"Booking kept."</a:t>
            </a:r>
            <a:endParaRPr lang="en-US" sz="1200" dirty="0"/>
          </a:p>
        </p:txBody>
      </p:sp>
      <p:sp>
        <p:nvSpPr>
          <p:cNvPr id="5" name="badge"/>
          <p:cNvSpPr/>
          <p:nvPr/>
        </p:nvSpPr>
        <p:spPr>
          <a:xfrm>
            <a:off x="603504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252728"/>
            <a:ext cx="2240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id first</a:t>
            </a:r>
            <a:endParaRPr lang="en-US" sz="1200" dirty="0"/>
          </a:p>
        </p:txBody>
      </p:sp>
      <p:sp>
        <p:nvSpPr>
          <p:cNvPr id="8" name="badge"/>
          <p:cNvSpPr/>
          <p:nvPr/>
        </p:nvSpPr>
        <p:spPr>
          <a:xfrm>
            <a:off x="6035040" y="205740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029968"/>
            <a:ext cx="2240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and the RISK</a:t>
            </a:r>
            <a:endParaRPr lang="en-US" sz="1200" dirty="0"/>
          </a:p>
        </p:txBody>
      </p:sp>
      <p:sp>
        <p:nvSpPr>
          <p:cNvPr id="11" name="badge"/>
          <p:cNvSpPr/>
          <p:nvPr/>
        </p:nvSpPr>
        <p:spPr>
          <a:xfrm>
            <a:off x="6035040" y="283464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807208"/>
            <a:ext cx="2240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and cancel: stop</a:t>
            </a:r>
            <a:endParaRPr lang="en-US" sz="1200" dirty="0"/>
          </a:p>
        </p:txBody>
      </p:sp>
      <p:sp>
        <p:nvSpPr>
          <p:cNvPr id="14" name="badge"/>
          <p:cNvSpPr/>
          <p:nvPr/>
        </p:nvSpPr>
        <p:spPr>
          <a:xfrm>
            <a:off x="6035040" y="361188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584448"/>
            <a:ext cx="2240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only on a clear yes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a form from a Python class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Trip(BaseModel):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destination: Literal["Goa","Jaipur","Kochi"]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nights: int = Field(ge=1, le=14)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str = Field(json_schema_extra=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{"format": "email"})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travel_class: Literal["economy","business"]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= "economy"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wants_insurance: bool = False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await ctx.elicit("Fill in...",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response_type=Trip)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 = result.data   # a real Trip</a:t>
            </a:r>
            <a:endParaRPr lang="en-US" sz="1100" dirty="0"/>
          </a:p>
        </p:txBody>
      </p:sp>
      <p:sp>
        <p:nvSpPr>
          <p:cNvPr id="5" name="badge"/>
          <p:cNvSpPr/>
          <p:nvPr/>
        </p:nvSpPr>
        <p:spPr>
          <a:xfrm>
            <a:off x="603504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252728"/>
            <a:ext cx="2240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attribute = one input</a:t>
            </a:r>
            <a:endParaRPr lang="en-US" sz="1200" dirty="0"/>
          </a:p>
        </p:txBody>
      </p:sp>
      <p:sp>
        <p:nvSpPr>
          <p:cNvPr id="8" name="badge"/>
          <p:cNvSpPr/>
          <p:nvPr/>
        </p:nvSpPr>
        <p:spPr>
          <a:xfrm>
            <a:off x="6035040" y="205740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029968"/>
            <a:ext cx="2240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 = required</a:t>
            </a:r>
            <a:endParaRPr lang="en-US" sz="1200" dirty="0"/>
          </a:p>
        </p:txBody>
      </p:sp>
      <p:sp>
        <p:nvSpPr>
          <p:cNvPr id="11" name="badge"/>
          <p:cNvSpPr/>
          <p:nvPr/>
        </p:nvSpPr>
        <p:spPr>
          <a:xfrm>
            <a:off x="6035040" y="283464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807208"/>
            <a:ext cx="2240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pre-filled</a:t>
            </a:r>
            <a:endParaRPr lang="en-US" sz="1200" dirty="0"/>
          </a:p>
        </p:txBody>
      </p:sp>
      <p:sp>
        <p:nvSpPr>
          <p:cNvPr id="14" name="badge"/>
          <p:cNvSpPr/>
          <p:nvPr/>
        </p:nvSpPr>
        <p:spPr>
          <a:xfrm>
            <a:off x="6035040" y="361188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584448"/>
            <a:ext cx="2240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result.data is validated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again, and limit retries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4572000" cy="1828800"/>
          </a:xfrm>
          <a:prstGeom prst="roundRect">
            <a:avLst>
              <a:gd name="adj" fmla="val 4000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nights = 99   # form says 1..14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ERROR: Input should be less than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 equal to 14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run, PART 3</a:t>
            </a:r>
            <a:endParaRPr lang="en-US" sz="1200" dirty="0"/>
          </a:p>
        </p:txBody>
      </p:sp>
      <p:sp>
        <p:nvSpPr>
          <p:cNvPr id="6" name="code panel"/>
          <p:cNvSpPr/>
          <p:nvPr/>
        </p:nvSpPr>
        <p:spPr>
          <a:xfrm>
            <a:off x="457200" y="338328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4747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attempt in range(1, 4):  # max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ask; if valid: return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 = "Sorry, ... choose one of: ..."</a:t>
            </a:r>
            <a:endParaRPr lang="en-US" sz="1100" dirty="0"/>
          </a:p>
        </p:txBody>
      </p:sp>
      <p:sp>
        <p:nvSpPr>
          <p:cNvPr id="8" name="badge"/>
          <p:cNvSpPr/>
          <p:nvPr/>
        </p:nvSpPr>
        <p:spPr>
          <a:xfrm>
            <a:off x="539496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9496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252728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may not enforce limits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394960" y="210312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075688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validation caught nights=99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5394960" y="292608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2898648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3 attempts, then stop</a:t>
            </a:r>
            <a:endParaRPr lang="en-US" sz="1300" dirty="0"/>
          </a:p>
        </p:txBody>
      </p:sp>
      <p:sp>
        <p:nvSpPr>
          <p:cNvPr id="17" name="badge"/>
          <p:cNvSpPr/>
          <p:nvPr/>
        </p:nvSpPr>
        <p:spPr>
          <a:xfrm>
            <a:off x="5394960" y="374904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9496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721608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or cancel ends the loop at once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ask for secrets in a form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3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mode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passes THROUGH the client.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choices, confirmations, trip details.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for passwords, API keys or card numbers.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663440" y="12344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DDF2E4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mode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opens a web page. The user does the sensitive part THERE.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sign-in, OAuth consent, payments.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exercised in the demos.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accept, decline, cancel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4800600" y="132588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message: what and why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0574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fields, good defaults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663440" y="20574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4800600" y="219456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the server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57200" y="29260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ask what is missing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663440" y="29260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4800600" y="306324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clients that cannot ask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457200" y="37947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8" name="badge"/>
          <p:cNvSpPr/>
          <p:nvPr/>
        </p:nvSpPr>
        <p:spPr>
          <a:xfrm>
            <a:off x="594360" y="393192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who is asking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4663440" y="37947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2" name="badge"/>
          <p:cNvSpPr/>
          <p:nvPr/>
        </p:nvSpPr>
        <p:spPr>
          <a:xfrm>
            <a:off x="4800600" y="393192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006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allow decline and cancel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2026-07-28: kept, delivered differently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book_trip(ctx):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 = ctx.input_responses or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"details" in r:      # ROUND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saved = json.loads(ctx.request_state)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"destination" in r:  # ROUND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return InputRequiredResult(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input_requests={"details": form(...)},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request_state=json.dumps(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{"destination": dest}))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InputRequiredResult(   # ROUND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input_requests={"destination": form(...)})</a:t>
            </a:r>
            <a:endParaRPr lang="en-US" sz="1000" dirty="0"/>
          </a:p>
        </p:txBody>
      </p:sp>
      <p:sp>
        <p:nvSpPr>
          <p:cNvPr id="5" name="badge"/>
          <p:cNvSpPr/>
          <p:nvPr/>
        </p:nvSpPr>
        <p:spPr>
          <a:xfrm>
            <a:off x="585216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25272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deprecated: the one to keep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5852160" y="205740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02996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returns "input required"; client retries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852160" y="283464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80720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request_state = the sticky note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5852160" y="361188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8444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handler stays the same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in one table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228600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Roots</a:t>
                      </a:r>
                      <a:endParaRPr lang="en-US" sz="13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Sampling</a:t>
                      </a:r>
                      <a:endParaRPr lang="en-US" sz="13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Elicitation</a:t>
                      </a:r>
                      <a:endParaRPr lang="en-US" sz="13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</a:rPr>
                        <a:t>Asks for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folders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an AI answer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info from the user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roots/list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sampling/createMessage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elicitation/create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</a:rPr>
                        <a:t>Biggest rule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enforce paths yourself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set limits; human in loop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all 3 outcomes; no secrets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</a:rPr>
                        <a:t>2026-07-28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deprecated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deprecated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4F"/>
                          </a:solidFill>
                        </a:rPr>
                        <a:t>ACTIVE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</a:rPr>
                        <a:t>Replacement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parameter + allow-list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direct provider call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none needed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5, guided projects with Agno and LangGraph.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Module 5</a:t>
            </a:r>
            <a:endParaRPr lang="en-US" sz="4000" dirty="0"/>
          </a:p>
        </p:txBody>
      </p:sp>
      <p:sp>
        <p:nvSpPr>
          <p:cNvPr id="3" name="next card"/>
          <p:cNvSpPr/>
          <p:nvPr/>
        </p:nvSpPr>
        <p:spPr>
          <a:xfrm>
            <a:off x="548640" y="18288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without MCP-USE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8288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client library, STDIO and Streamable HTTP</a:t>
            </a:r>
            <a:endParaRPr lang="en-US" sz="1400" dirty="0"/>
          </a:p>
        </p:txBody>
      </p:sp>
      <p:sp>
        <p:nvSpPr>
          <p:cNvPr id="6" name="next card"/>
          <p:cNvSpPr/>
          <p:nvPr/>
        </p:nvSpPr>
        <p:spPr>
          <a:xfrm>
            <a:off x="548640" y="28346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8FD3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34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8346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and multiple MCP servers</a:t>
            </a:r>
            <a:endParaRPr lang="en-US" sz="1400" dirty="0"/>
          </a:p>
        </p:txBody>
      </p:sp>
      <p:sp>
        <p:nvSpPr>
          <p:cNvPr id="9" name="next card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40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3840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adapters, multi-server, StateGraph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P Elicitation">
  <a:themeElements>
    <a:clrScheme name="MCP Elicitation">
      <a:dk1>
        <a:srgbClr val="1F2933"/>
      </a:dk1>
      <a:lt1>
        <a:srgbClr val="FFFFFF"/>
      </a:lt1>
      <a:dk2>
        <a:srgbClr val="0F4C5C"/>
      </a:dk2>
      <a:lt2>
        <a:srgbClr val="E8F1F2"/>
      </a:lt2>
      <a:accent1>
        <a:srgbClr val="0F4C5C"/>
      </a:accent1>
      <a:accent2>
        <a:srgbClr val="E36414"/>
      </a:accent2>
      <a:accent3>
        <a:srgbClr val="2E7D4F"/>
      </a:accent3>
      <a:accent4>
        <a:srgbClr val="2F6DB5"/>
      </a:accent4>
      <a:accent5>
        <a:srgbClr val="B26A00"/>
      </a:accent5>
      <a:accent6>
        <a:srgbClr val="7A4EAB"/>
      </a:accent6>
      <a:hlink>
        <a:srgbClr val="2F6DB5"/>
      </a:hlink>
      <a:folHlink>
        <a:srgbClr val="7A4EAB"/>
      </a:folHlink>
    </a:clrScheme>
    <a:fontScheme name="MCP Elicit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Elicitation: Infographic Slides</dc:title>
  <dc:subject>PptxGenJS Presentation</dc:subject>
  <dc:creator>MCP Mentoring Path</dc:creator>
  <cp:lastModifiedBy>MCP Mentoring Path</cp:lastModifiedBy>
  <cp:revision>1</cp:revision>
  <dcterms:created xsi:type="dcterms:W3CDTF">2026-10-05T22:56:22Z</dcterms:created>
  <dcterms:modified xsi:type="dcterms:W3CDTF">2026-10-05T22:56:22Z</dcterms:modified>
</cp:coreProperties>
</file>