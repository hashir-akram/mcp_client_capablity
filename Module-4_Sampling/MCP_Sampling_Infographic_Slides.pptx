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674eedb-b593-c82c-cfb1-42f97a42f2cd}">
          <p14:sldIdLst>
            <p14:sldId id="256"/>
          </p14:sldIdLst>
        </p14:section>
        <p14:section name="Idea" id="{d817e70e-fb5f-daf0-1b3f-552cfe21b99c}">
          <p14:sldIdLst>
            <p14:sldId id="257"/>
            <p14:sldId id="258"/>
          </p14:sldIdLst>
        </p14:section>
        <p14:section name="Lifecycle" id="{649da234-a685-787d-6ae1-269e3a0dca64}">
          <p14:sldIdLst>
            <p14:sldId id="259"/>
            <p14:sldId id="260"/>
            <p14:sldId id="261"/>
          </p14:sldIdLst>
        </p14:section>
        <p14:section name="Prefs" id="{c0680ca6-b245-9d38-95cf-3c609a8a2657}">
          <p14:sldIdLst>
            <p14:sldId id="262"/>
            <p14:sldId id="263"/>
          </p14:sldIdLst>
        </p14:section>
        <p14:section name="Safety" id="{ccbe52c1-efbc-3799-f2cf-9a3bb77b3138}">
          <p14:sldIdLst>
            <p14:sldId id="264"/>
            <p14:sldId id="265"/>
            <p14:sldId id="266"/>
          </p14:sldIdLst>
        </p14:section>
        <p14:section name="Spec" id="{c8adb8bd-e32c-381c-ffda-46d0a24b80c3}">
          <p14:sldIdLst>
            <p14:sldId id="267"/>
            <p14:sldId id="268"/>
          </p14:sldIdLst>
        </p14:section>
        <p14:section name="Wrap" id="{b13f7dcb-eaee-4d60-8a39-0e57080fa2fc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client feature. Deprecated in spec 2026-07-28 but still widely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server writes the question; the client owns the brain and the final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Sampling needs budgets and approval because it can spend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client may skip review, but a careful client will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run printed every one of these fields on the client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stopReason maxTokens means the summary may end mid-sentence.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SDK uses camelCase names; snake_case ones are silently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client may also ignore the advice completely.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Sampling lets someone else's code spend the user's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3, 4 and 5 of the demo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of every sampling tool: what happens if there is no model?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SEP-2577 deprecates Sampling. includeContext is deprecated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run printed: [client model: demo-modern-model] 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scripts executed with Python 3.12. The demo uses a rule-based fake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MENTORING PATH  |  MODULE 4  |  LESSON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Sampling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borrows the client's AI model</a:t>
            </a:r>
            <a:endParaRPr lang="en-US" sz="2200" dirty="0"/>
          </a:p>
        </p:txBody>
      </p:sp>
      <p:sp>
        <p:nvSpPr>
          <p:cNvPr id="5" name="chip"/>
          <p:cNvSpPr/>
          <p:nvPr/>
        </p:nvSpPr>
        <p:spPr>
          <a:xfrm>
            <a:off x="54864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sampling/createMessage</a:t>
            </a:r>
            <a:endParaRPr lang="en-US" sz="1200" dirty="0"/>
          </a:p>
        </p:txBody>
      </p:sp>
      <p:sp>
        <p:nvSpPr>
          <p:cNvPr id="7" name="chip"/>
          <p:cNvSpPr/>
          <p:nvPr/>
        </p:nvSpPr>
        <p:spPr>
          <a:xfrm>
            <a:off x="324612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maxTokens</a:t>
            </a:r>
            <a:endParaRPr lang="en-US" sz="1200" dirty="0"/>
          </a:p>
        </p:txBody>
      </p:sp>
      <p:sp>
        <p:nvSpPr>
          <p:cNvPr id="9" name="chip"/>
          <p:cNvSpPr/>
          <p:nvPr/>
        </p:nvSpPr>
        <p:spPr>
          <a:xfrm>
            <a:off x="594360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modelPreferences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a friend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server"/>
          <p:cNvSpPr/>
          <p:nvPr/>
        </p:nvSpPr>
        <p:spPr>
          <a:xfrm>
            <a:off x="731520" y="15544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brain</a:t>
            </a:r>
            <a:endParaRPr lang="en-US" sz="1200" dirty="0"/>
          </a:p>
        </p:txBody>
      </p:sp>
      <p:sp>
        <p:nvSpPr>
          <p:cNvPr id="6" name="client"/>
          <p:cNvSpPr/>
          <p:nvPr/>
        </p:nvSpPr>
        <p:spPr>
          <a:xfrm>
            <a:off x="2651760" y="15544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AI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2148840" y="1783080"/>
            <a:ext cx="457200" cy="274320"/>
          </a:xfrm>
          <a:prstGeom prst="rightArrow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your AI this and tell me what it says."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may approve first.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480560" y="12344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it?</a:t>
            </a:r>
            <a:endParaRPr lang="en-US" sz="1500" dirty="0"/>
          </a:p>
        </p:txBody>
      </p:sp>
      <p:sp>
        <p:nvSpPr>
          <p:cNvPr id="13" name="badge"/>
          <p:cNvSpPr/>
          <p:nvPr/>
        </p:nvSpPr>
        <p:spPr>
          <a:xfrm>
            <a:off x="4663440" y="1828800"/>
            <a:ext cx="347472" cy="34747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18013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on the server</a:t>
            </a:r>
            <a:endParaRPr lang="en-US" sz="1400" dirty="0"/>
          </a:p>
        </p:txBody>
      </p:sp>
      <p:sp>
        <p:nvSpPr>
          <p:cNvPr id="16" name="badge"/>
          <p:cNvSpPr/>
          <p:nvPr/>
        </p:nvSpPr>
        <p:spPr>
          <a:xfrm>
            <a:off x="4663440" y="2450592"/>
            <a:ext cx="347472" cy="34747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423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model and billing</a:t>
            </a:r>
            <a:endParaRPr lang="en-US" sz="1400" dirty="0"/>
          </a:p>
        </p:txBody>
      </p:sp>
      <p:sp>
        <p:nvSpPr>
          <p:cNvPr id="19" name="badge"/>
          <p:cNvSpPr/>
          <p:nvPr/>
        </p:nvSpPr>
        <p:spPr>
          <a:xfrm>
            <a:off x="4663440" y="3072384"/>
            <a:ext cx="347472" cy="34747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0449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can approve each call</a:t>
            </a:r>
            <a:endParaRPr lang="en-US" sz="1400" dirty="0"/>
          </a:p>
        </p:txBody>
      </p:sp>
      <p:sp>
        <p:nvSpPr>
          <p:cNvPr id="22" name="badge"/>
          <p:cNvSpPr/>
          <p:nvPr/>
        </p:nvSpPr>
        <p:spPr>
          <a:xfrm>
            <a:off x="4663440" y="3694176"/>
            <a:ext cx="347472" cy="34747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6667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with a provider the user trusts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opposite directions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label"/>
          <p:cNvSpPr/>
          <p:nvPr/>
        </p:nvSpPr>
        <p:spPr>
          <a:xfrm>
            <a:off x="640080" y="14173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tool call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uses the server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---&gt; tool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label"/>
          <p:cNvSpPr/>
          <p:nvPr/>
        </p:nvSpPr>
        <p:spPr>
          <a:xfrm>
            <a:off x="4846320" y="14173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4E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uses the model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---&gt; model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make a loop: the model calls a tool, the tool asks the model, the tool finishes. Powerful, so it needs limits.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phases</a:t>
            </a:r>
            <a:endParaRPr lang="en-US" sz="3000" dirty="0"/>
          </a:p>
        </p:txBody>
      </p:sp>
      <p:sp>
        <p:nvSpPr>
          <p:cNvPr id="3" name="connector"/>
          <p:cNvSpPr/>
          <p:nvPr/>
        </p:nvSpPr>
        <p:spPr>
          <a:xfrm>
            <a:off x="1234440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02920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sampling</a:t>
            </a:r>
            <a:endParaRPr lang="en-US" sz="1100" dirty="0"/>
          </a:p>
        </p:txBody>
      </p:sp>
      <p:sp>
        <p:nvSpPr>
          <p:cNvPr id="8" name="connector"/>
          <p:cNvSpPr/>
          <p:nvPr/>
        </p:nvSpPr>
        <p:spPr>
          <a:xfrm>
            <a:off x="2670048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1938528" y="1508760"/>
            <a:ext cx="548640" cy="54864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3852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64208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18488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asks</a:t>
            </a:r>
            <a:endParaRPr lang="en-US" sz="1100" dirty="0"/>
          </a:p>
        </p:txBody>
      </p:sp>
      <p:sp>
        <p:nvSpPr>
          <p:cNvPr id="13" name="connector"/>
          <p:cNvSpPr/>
          <p:nvPr/>
        </p:nvSpPr>
        <p:spPr>
          <a:xfrm>
            <a:off x="4105656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3374136" y="1508760"/>
            <a:ext cx="548640" cy="5486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7413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099816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54096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prompt</a:t>
            </a:r>
            <a:endParaRPr lang="en-US" sz="1100" dirty="0"/>
          </a:p>
        </p:txBody>
      </p:sp>
      <p:sp>
        <p:nvSpPr>
          <p:cNvPr id="18" name="connector"/>
          <p:cNvSpPr/>
          <p:nvPr/>
        </p:nvSpPr>
        <p:spPr>
          <a:xfrm>
            <a:off x="5541264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4809744" y="150876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974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35424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89704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picks model</a:t>
            </a:r>
            <a:endParaRPr lang="en-US" sz="1100" dirty="0"/>
          </a:p>
        </p:txBody>
      </p:sp>
      <p:sp>
        <p:nvSpPr>
          <p:cNvPr id="23" name="connector"/>
          <p:cNvSpPr/>
          <p:nvPr/>
        </p:nvSpPr>
        <p:spPr>
          <a:xfrm>
            <a:off x="6976872" y="1783080"/>
            <a:ext cx="50292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6245352" y="1508760"/>
            <a:ext cx="548640" cy="5486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4535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971032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25312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answer</a:t>
            </a:r>
            <a:endParaRPr lang="en-US" sz="1100" dirty="0"/>
          </a:p>
        </p:txBody>
      </p:sp>
      <p:sp>
        <p:nvSpPr>
          <p:cNvPr id="28" name="badge"/>
          <p:cNvSpPr/>
          <p:nvPr/>
        </p:nvSpPr>
        <p:spPr>
          <a:xfrm>
            <a:off x="7680960" y="1508760"/>
            <a:ext cx="548640" cy="54864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model</a:t>
            </a:r>
            <a:endParaRPr lang="en-US" sz="1100" dirty="0"/>
          </a:p>
        </p:txBody>
      </p:sp>
      <p:sp>
        <p:nvSpPr>
          <p:cNvPr id="32" name="card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3 and 5 are the human-in-the-loop checkpoints.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says clients SHOULD let the user review requests and answers.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server sends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sampling/createMessage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messages:     [{role, content}]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maxTokens:    60       &lt;- required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systemPrompt: "You are concise"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temperature:  0.2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modelPreferences: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hints: [{name: "haiku"}]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costPriority: 0.9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speedPriority: 0.8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intelligencePriority: 0.2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stopSequences, includeContext</a:t>
            </a:r>
            <a:endParaRPr lang="en-US" sz="1100" dirty="0"/>
          </a:p>
        </p:txBody>
      </p:sp>
      <p:sp>
        <p:nvSpPr>
          <p:cNvPr id="5" name="badge"/>
          <p:cNvSpPr/>
          <p:nvPr/>
        </p:nvSpPr>
        <p:spPr>
          <a:xfrm>
            <a:off x="548640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25272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+ maxTokens are required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48640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02996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go in systemPrompt, data in messages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48640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80720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= steady answers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48640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358444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includeContext: use "none"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client returns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      "assistant"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content:    {type: "text", text: "..."}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     "demo-medium"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stopReason: "endTurn"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457200" y="3429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endTurn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naturally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542032" y="3429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3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maxTokens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OFF: check this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626864" y="3429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18304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stopSequence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stop text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711696" y="3429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03136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4E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toolUse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03136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 tool</a:t>
            </a:r>
            <a:endParaRPr lang="en-US" sz="1200" dirty="0"/>
          </a:p>
        </p:txBody>
      </p:sp>
      <p:sp>
        <p:nvSpPr>
          <p:cNvPr id="17" name="badge"/>
          <p:cNvSpPr/>
          <p:nvPr/>
        </p:nvSpPr>
        <p:spPr>
          <a:xfrm>
            <a:off x="548640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125272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reports the model it ACTUALLY used</a:t>
            </a:r>
            <a:endParaRPr lang="en-US" sz="1300" dirty="0"/>
          </a:p>
        </p:txBody>
      </p:sp>
      <p:sp>
        <p:nvSpPr>
          <p:cNvPr id="20" name="badge"/>
          <p:cNvSpPr/>
          <p:nvPr/>
        </p:nvSpPr>
        <p:spPr>
          <a:xfrm>
            <a:off x="5486400" y="192024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189280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rely on a specific model name</a:t>
            </a:r>
            <a:endParaRPr lang="en-US" sz="1300" dirty="0"/>
          </a:p>
        </p:txBody>
      </p:sp>
      <p:sp>
        <p:nvSpPr>
          <p:cNvPr id="23" name="badge"/>
          <p:cNvSpPr/>
          <p:nvPr/>
        </p:nvSpPr>
        <p:spPr>
          <a:xfrm>
            <a:off x="5486400" y="256032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253288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cut-off answer is a bug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preferences: advice, not orders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pref label"/>
          <p:cNvSpPr/>
          <p:nvPr/>
        </p:nvSpPr>
        <p:spPr>
          <a:xfrm>
            <a:off x="640080" y="13716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fragments, in order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"haiku", "sonnet"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pref label"/>
          <p:cNvSpPr/>
          <p:nvPr/>
        </p:nvSpPr>
        <p:spPr>
          <a:xfrm>
            <a:off x="4846320" y="13716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costPriority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please be cheap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for a label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pref label"/>
          <p:cNvSpPr/>
          <p:nvPr/>
        </p:nvSpPr>
        <p:spPr>
          <a:xfrm>
            <a:off x="640080" y="2971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speedPriority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please be fast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for live chat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pref label"/>
          <p:cNvSpPr/>
          <p:nvPr/>
        </p:nvSpPr>
        <p:spPr>
          <a:xfrm>
            <a:off x="4846320" y="2971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intelligencePriority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very capable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for code review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cannot name a model: it does not know what the client has.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 turns advice into a choice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choose_model(prefs):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prefs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"demo-medium"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hints = [h.name for h in prefs.hints]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"haiku" in hints or prefs.costPriority &gt; 0.7: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"demo-small"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prefs.intelligencePriority &gt; 0.7: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"demo-large"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"demo-medium"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852160" y="118872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91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sent hint "haiku", cost 0.9, speed 0.8, intelligence 0.2.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34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chose its own "demo-small".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safety and cost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(model owners)</a:t>
            </a:r>
            <a:endParaRPr lang="en-US" sz="1500" dirty="0"/>
          </a:p>
        </p:txBody>
      </p:sp>
      <p:sp>
        <p:nvSpPr>
          <p:cNvPr id="5" name="badge"/>
          <p:cNvSpPr/>
          <p:nvPr/>
        </p:nvSpPr>
        <p:spPr>
          <a:xfrm>
            <a:off x="640080" y="1828800"/>
            <a:ext cx="347472" cy="34747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01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prompt; let the user refuse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640080" y="2468880"/>
            <a:ext cx="347472" cy="34747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41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model yourself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640080" y="3108960"/>
            <a:ext cx="347472" cy="34747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081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tokens, rate and cost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640080" y="3749040"/>
            <a:ext cx="347472" cy="34747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721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forward secrets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(question writers)</a:t>
            </a:r>
            <a:endParaRPr lang="en-US" sz="1500" dirty="0"/>
          </a:p>
        </p:txBody>
      </p:sp>
      <p:sp>
        <p:nvSpPr>
          <p:cNvPr id="19" name="badge"/>
          <p:cNvSpPr/>
          <p:nvPr/>
        </p:nvSpPr>
        <p:spPr>
          <a:xfrm>
            <a:off x="4846320" y="1828800"/>
            <a:ext cx="347472" cy="347472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1801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maxTokens</a:t>
            </a:r>
            <a:endParaRPr lang="en-US" sz="1300" dirty="0"/>
          </a:p>
        </p:txBody>
      </p:sp>
      <p:sp>
        <p:nvSpPr>
          <p:cNvPr id="22" name="badge"/>
          <p:cNvSpPr/>
          <p:nvPr/>
        </p:nvSpPr>
        <p:spPr>
          <a:xfrm>
            <a:off x="4846320" y="2468880"/>
            <a:ext cx="347472" cy="347472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2441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budget; never loop freely</a:t>
            </a:r>
            <a:endParaRPr lang="en-US" sz="1300" dirty="0"/>
          </a:p>
        </p:txBody>
      </p:sp>
      <p:sp>
        <p:nvSpPr>
          <p:cNvPr id="25" name="badge"/>
          <p:cNvSpPr/>
          <p:nvPr/>
        </p:nvSpPr>
        <p:spPr>
          <a:xfrm>
            <a:off x="4846320" y="3108960"/>
            <a:ext cx="347472" cy="347472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081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have a fallback</a:t>
            </a:r>
            <a:endParaRPr lang="en-US" sz="1300" dirty="0"/>
          </a:p>
        </p:txBody>
      </p:sp>
      <p:sp>
        <p:nvSpPr>
          <p:cNvPr id="28" name="badge"/>
          <p:cNvSpPr/>
          <p:nvPr/>
        </p:nvSpPr>
        <p:spPr>
          <a:xfrm>
            <a:off x="4846320" y="3749040"/>
            <a:ext cx="347472" cy="347472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721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answer as untrusted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and budget in code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await ctx.sample(msg, max_tokens=15)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"[AI title] " + r.text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exc: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"[fallback title] " + first_words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note in NOTES: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calls &gt;= MAX_SAMPLES_PER_CALL: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summaries[id] = "(skipped: budget)"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await ctx.sample(...); calls += 1</a:t>
            </a:r>
            <a:endParaRPr lang="en-US" sz="11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sampling or user said no: still answer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calls; stop at the budget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run: 3 notes, 2 model calls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answers before using them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run: the human says no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3: user says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[approval] Server wants to ask the AI: "Write a title..." allow? -&gt;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[fallback title] Idea: add a dark...  (reason: The user refused this AI request.)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4: client with NO sampling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[fallback title] Idea: add a dark...  (reason: Client does not support sampling)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37490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returns ErrorData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46120" y="37490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it, uses fallback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6035040" y="37490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still works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2026-07-28: deprecated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Sampling (client's model)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7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Direct provider call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API key on server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Who pays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the user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the server owner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Model quality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varies by client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you test one model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Works with every client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Future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deprecated; not removed before July 2027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safe</a:t>
                      </a:r>
                      <a:endParaRPr lang="en-US" sz="13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project: call the provider directly. Existing: keep sampling in ONE helper and plan the move.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style: input required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ctx.input_responses is None: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InputRequiredResult(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input_requests={"summary":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CreateMessageRequest(params=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CreateMessageRequestParams(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messages=[...], max_tokens=60))})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ctx.input_responses["summary"]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answer.content.text</a:t>
            </a:r>
            <a:endParaRPr lang="en-US" sz="11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runs twice for one call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ask. Round 2: use the answer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 fields, snake_case names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handler keeps the same job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results from a real run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tools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256032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scenarios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6344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under a budget of 2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76656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styles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01_sampling_server_classic.py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sampling tools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02_sampling_client_classic.py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anatomy, approval, fallback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03_sampling_client_mcpuse.py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sampling_callback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05 modern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4297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required + direct provider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Elicitation</a:t>
            </a:r>
            <a:endParaRPr lang="en-US" sz="4000" dirty="0"/>
          </a:p>
        </p:txBody>
      </p:sp>
      <p:sp>
        <p:nvSpPr>
          <p:cNvPr id="3" name="next card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828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asks the USER for information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548640" y="28346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8FD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8346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decline or cancel</a:t>
            </a:r>
            <a:endParaRPr lang="en-US" sz="1400" dirty="0"/>
          </a:p>
        </p:txBody>
      </p:sp>
      <p:sp>
        <p:nvSpPr>
          <p:cNvPr id="9" name="next card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840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deprecated: the one to keep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P Sampling">
  <a:themeElements>
    <a:clrScheme name="MCP Sampling">
      <a:dk1>
        <a:srgbClr val="1F2933"/>
      </a:dk1>
      <a:lt1>
        <a:srgbClr val="FFFFFF"/>
      </a:lt1>
      <a:dk2>
        <a:srgbClr val="0F4C5C"/>
      </a:dk2>
      <a:lt2>
        <a:srgbClr val="E8F1F2"/>
      </a:lt2>
      <a:accent1>
        <a:srgbClr val="0F4C5C"/>
      </a:accent1>
      <a:accent2>
        <a:srgbClr val="E36414"/>
      </a:accent2>
      <a:accent3>
        <a:srgbClr val="2E7D4F"/>
      </a:accent3>
      <a:accent4>
        <a:srgbClr val="2F6DB5"/>
      </a:accent4>
      <a:accent5>
        <a:srgbClr val="B26A00"/>
      </a:accent5>
      <a:accent6>
        <a:srgbClr val="7A4EAB"/>
      </a:accent6>
      <a:hlink>
        <a:srgbClr val="2F6DB5"/>
      </a:hlink>
      <a:folHlink>
        <a:srgbClr val="7A4EAB"/>
      </a:folHlink>
    </a:clrScheme>
    <a:fontScheme name="MCP Sampl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Sampling: Infographic Slides</dc:title>
  <dc:subject>PptxGenJS Presentation</dc:subject>
  <dc:creator>MCP Mentoring Path</dc:creator>
  <cp:lastModifiedBy>MCP Mentoring Path</cp:lastModifiedBy>
  <cp:revision>1</cp:revision>
  <dcterms:created xsi:type="dcterms:W3CDTF">2026-10-05T08:23:24Z</dcterms:created>
  <dcterms:modified xsi:type="dcterms:W3CDTF">2026-10-05T08:23:24Z</dcterms:modified>
</cp:coreProperties>
</file>