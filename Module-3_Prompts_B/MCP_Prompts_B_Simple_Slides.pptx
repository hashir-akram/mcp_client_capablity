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05bd46a9-cc2b-a978-d95b-1705e1748cb5}">
          <p14:sldIdLst>
            <p14:sldId id="256"/>
          </p14:sldIdLst>
        </p14:section>
        <p14:section name="Idea" id="{47477287-b1a7-121a-3ff1-71f30ea8dde8}">
          <p14:sldIdLst>
            <p14:sldId id="257"/>
            <p14:sldId id="258"/>
            <p14:sldId id="259"/>
          </p14:sldIdLst>
        </p14:section>
        <p14:section name="Ways" id="{49213bb3-8b97-90ae-ff1d-3c8c19f4f3d8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Choose" id="{02db1389-b61f-b92b-02f5-b4a1af746753}">
          <p14:sldIdLst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families. Learn the family first, then the ways inside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Picture: a form letter. The expert writes the wording once; users fill the blanks.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sentence as before: tools act, resources inform, prompts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name is not a password. Hiding switches off for everyone.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Picture: a form-letter machine. The letter is printed only when someone fills a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Ways 2, 3 and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Way 5. Help text and limits use Annotated + Field.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two roles exist: user and assistant. No system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Ways 9 and 10. Compare way 7, where the document text is copied into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Way 13 example is in Module-3_Prompts/demo/03_base_server_prompts.py.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Same-name prompts: use on_duplicate="error" in real projects.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helper: prompt leave_question, resource policy://leave, tool submit_leave.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chooser table is in section 8 of the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Embedded tickets or wiki pages can contain instructions aimed at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OP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OP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MENTORING PATH  |  MODULE 3  |  VERSION B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Prompts, Simply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way to define a prompt: 16 ways, 3 families</a:t>
            </a:r>
            <a:endParaRPr lang="en-US" sz="2200" dirty="0"/>
          </a:p>
        </p:txBody>
      </p:sp>
      <p:sp>
        <p:nvSpPr>
          <p:cNvPr id="5" name="family chip"/>
          <p:cNvSpPr/>
          <p:nvPr/>
        </p:nvSpPr>
        <p:spPr>
          <a:xfrm>
            <a:off x="548640" y="3566160"/>
            <a:ext cx="2514600" cy="685800"/>
          </a:xfrm>
          <a:prstGeom prst="roundRect">
            <a:avLst>
              <a:gd name="adj" fmla="val 16000"/>
            </a:avLst>
          </a:prstGeom>
          <a:solidFill>
            <a:srgbClr val="0A354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5661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</a:t>
            </a:r>
            <a:endParaRPr lang="en-US" sz="1500" dirty="0"/>
          </a:p>
        </p:txBody>
      </p:sp>
      <p:sp>
        <p:nvSpPr>
          <p:cNvPr id="7" name="family chip"/>
          <p:cNvSpPr/>
          <p:nvPr/>
        </p:nvSpPr>
        <p:spPr>
          <a:xfrm>
            <a:off x="3246120" y="3566160"/>
            <a:ext cx="2514600" cy="685800"/>
          </a:xfrm>
          <a:prstGeom prst="roundRect">
            <a:avLst>
              <a:gd name="adj" fmla="val 16000"/>
            </a:avLst>
          </a:prstGeom>
          <a:solidFill>
            <a:srgbClr val="0A354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46120" y="35661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as an object</a:t>
            </a:r>
            <a:endParaRPr lang="en-US" sz="1500" dirty="0"/>
          </a:p>
        </p:txBody>
      </p:sp>
      <p:sp>
        <p:nvSpPr>
          <p:cNvPr id="9" name="family chip"/>
          <p:cNvSpPr/>
          <p:nvPr/>
        </p:nvSpPr>
        <p:spPr>
          <a:xfrm>
            <a:off x="5943600" y="3566160"/>
            <a:ext cx="2514600" cy="685800"/>
          </a:xfrm>
          <a:prstGeom prst="roundRect">
            <a:avLst>
              <a:gd name="adj" fmla="val 16000"/>
            </a:avLst>
          </a:prstGeom>
          <a:solidFill>
            <a:srgbClr val="0A354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0" y="35661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combine, hide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prompt = name + blanks + message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8229600" cy="3108960"/>
          </a:xfrm>
          <a:prstGeom prst="roundRect">
            <a:avLst>
              <a:gd name="adj" fmla="val 2941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part"/>
          <p:cNvSpPr/>
          <p:nvPr/>
        </p:nvSpPr>
        <p:spPr>
          <a:xfrm>
            <a:off x="731520" y="1508760"/>
            <a:ext cx="2468880" cy="548640"/>
          </a:xfrm>
          <a:prstGeom prst="roundRect">
            <a:avLst>
              <a:gd name="adj" fmla="val 16667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user picks</a:t>
            </a:r>
            <a:endParaRPr lang="en-US" sz="1400" dirty="0"/>
          </a:p>
        </p:txBody>
      </p:sp>
      <p:sp>
        <p:nvSpPr>
          <p:cNvPr id="7" name="example"/>
          <p:cNvSpPr/>
          <p:nvPr/>
        </p:nvSpPr>
        <p:spPr>
          <a:xfrm>
            <a:off x="731520" y="274320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7432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</a:t>
            </a:r>
            <a:endParaRPr lang="en-US" sz="1300" dirty="0"/>
          </a:p>
        </p:txBody>
      </p:sp>
      <p:sp>
        <p:nvSpPr>
          <p:cNvPr id="9" name="part"/>
          <p:cNvSpPr/>
          <p:nvPr/>
        </p:nvSpPr>
        <p:spPr>
          <a:xfrm>
            <a:off x="3429000" y="1508760"/>
            <a:ext cx="2468880" cy="548640"/>
          </a:xfrm>
          <a:prstGeom prst="roundRect">
            <a:avLst>
              <a:gd name="adj" fmla="val 16667"/>
            </a:avLst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508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user fills</a:t>
            </a:r>
            <a:endParaRPr lang="en-US" sz="1400" dirty="0"/>
          </a:p>
        </p:txBody>
      </p:sp>
      <p:sp>
        <p:nvSpPr>
          <p:cNvPr id="12" name="example"/>
          <p:cNvSpPr/>
          <p:nvPr/>
        </p:nvSpPr>
        <p:spPr>
          <a:xfrm>
            <a:off x="3429000" y="274320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20440" y="27432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text, language</a:t>
            </a:r>
            <a:endParaRPr lang="en-US" sz="1300" dirty="0"/>
          </a:p>
        </p:txBody>
      </p:sp>
      <p:sp>
        <p:nvSpPr>
          <p:cNvPr id="14" name="part"/>
          <p:cNvSpPr/>
          <p:nvPr/>
        </p:nvSpPr>
        <p:spPr>
          <a:xfrm>
            <a:off x="6126480" y="1508760"/>
            <a:ext cx="2468880" cy="548640"/>
          </a:xfrm>
          <a:prstGeom prst="roundRect">
            <a:avLst>
              <a:gd name="adj" fmla="val 16667"/>
            </a:avLst>
          </a:prstGeom>
          <a:solidFill>
            <a:srgbClr val="7A4EAB"/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26480" y="1508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wording with blanks inside</a:t>
            </a:r>
            <a:endParaRPr lang="en-US" sz="1400" dirty="0"/>
          </a:p>
        </p:txBody>
      </p:sp>
      <p:sp>
        <p:nvSpPr>
          <p:cNvPr id="17" name="example"/>
          <p:cNvSpPr/>
          <p:nvPr/>
        </p:nvSpPr>
        <p:spPr>
          <a:xfrm>
            <a:off x="6126480" y="274320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0" y="27432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 to {language}: {text}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facts that clear the confusion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640080" y="1490472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2588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does NOT call the AI model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7373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builds messages. The host sends them.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57200" y="23317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640080" y="2587752"/>
            <a:ext cx="457200" cy="457200"/>
          </a:xfrm>
          <a:prstGeom prst="ellipse">
            <a:avLst/>
          </a:prstGeom>
          <a:solidFill>
            <a:srgbClr val="7A4EAB"/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42316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A4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chooses the prompt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8346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the model. Resources: the app. Prompts: the user.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457200" y="342900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4" name="badge"/>
          <p:cNvSpPr/>
          <p:nvPr/>
        </p:nvSpPr>
        <p:spPr>
          <a:xfrm>
            <a:off x="640080" y="3685032"/>
            <a:ext cx="457200" cy="45720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52044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blank arrives as text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9319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and lists too. The server converts them.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anyone use it?</a:t>
            </a:r>
            <a:endParaRPr lang="en-US" sz="3000" dirty="0"/>
          </a:p>
        </p:txBody>
      </p:sp>
      <p:sp>
        <p:nvSpPr>
          <p:cNvPr id="3" name="level"/>
          <p:cNvSpPr/>
          <p:nvPr/>
        </p:nvSpPr>
        <p:spPr>
          <a:xfrm>
            <a:off x="457200" y="1234440"/>
            <a:ext cx="2926080" cy="713232"/>
          </a:xfrm>
          <a:prstGeom prst="roundRect">
            <a:avLst>
              <a:gd name="adj" fmla="val 12821"/>
            </a:avLst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123444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sees it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23444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protected</a:t>
            </a:r>
            <a:endParaRPr lang="en-US" sz="1500" dirty="0"/>
          </a:p>
        </p:txBody>
      </p:sp>
      <p:sp>
        <p:nvSpPr>
          <p:cNvPr id="7" name="level"/>
          <p:cNvSpPr/>
          <p:nvPr/>
        </p:nvSpPr>
        <p:spPr>
          <a:xfrm>
            <a:off x="457200" y="2103120"/>
            <a:ext cx="2926080" cy="713232"/>
          </a:xfrm>
          <a:prstGeom prst="roundRect">
            <a:avLst>
              <a:gd name="adj" fmla="val 12821"/>
            </a:avLst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10312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(disabled)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10312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for everyone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10312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off</a:t>
            </a:r>
            <a:endParaRPr lang="en-US" sz="1500" dirty="0"/>
          </a:p>
        </p:txBody>
      </p:sp>
      <p:sp>
        <p:nvSpPr>
          <p:cNvPr id="11" name="level"/>
          <p:cNvSpPr/>
          <p:nvPr/>
        </p:nvSpPr>
        <p:spPr>
          <a:xfrm>
            <a:off x="457200" y="2971800"/>
            <a:ext cx="2926080" cy="713232"/>
          </a:xfrm>
          <a:prstGeom prst="roundRect">
            <a:avLst>
              <a:gd name="adj" fmla="val 12821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97180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(login)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97180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allowed users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97180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really protected</a:t>
            </a:r>
            <a:endParaRPr lang="en-US" sz="1500" dirty="0"/>
          </a:p>
        </p:txBody>
      </p:sp>
      <p:sp>
        <p:nvSpPr>
          <p:cNvPr id="15" name="card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BE3E1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Blanks are typed by people: check them and mark them as data.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A: write a function (ways 1-11)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2606040" cy="713232"/>
          </a:xfrm>
          <a:prstGeom prst="roundRect">
            <a:avLst>
              <a:gd name="adj" fmla="val 12821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566928" y="1271016"/>
            <a:ext cx="438912" cy="43891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2710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1887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508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blanks</a:t>
            </a:r>
            <a:endParaRPr lang="en-US" sz="1100" dirty="0"/>
          </a:p>
        </p:txBody>
      </p:sp>
      <p:sp>
        <p:nvSpPr>
          <p:cNvPr id="8" name="card"/>
          <p:cNvSpPr/>
          <p:nvPr/>
        </p:nvSpPr>
        <p:spPr>
          <a:xfrm>
            <a:off x="3246120" y="1143000"/>
            <a:ext cx="2606040" cy="713232"/>
          </a:xfrm>
          <a:prstGeom prst="roundRect">
            <a:avLst>
              <a:gd name="adj" fmla="val 12821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3355848" y="1271016"/>
            <a:ext cx="438912" cy="43891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55848" y="12710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886200" y="11887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886200" y="1508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default</a:t>
            </a:r>
            <a:endParaRPr lang="en-US" sz="1100" dirty="0"/>
          </a:p>
        </p:txBody>
      </p:sp>
      <p:sp>
        <p:nvSpPr>
          <p:cNvPr id="13" name="card"/>
          <p:cNvSpPr/>
          <p:nvPr/>
        </p:nvSpPr>
        <p:spPr>
          <a:xfrm>
            <a:off x="6035040" y="1143000"/>
            <a:ext cx="2606040" cy="713232"/>
          </a:xfrm>
          <a:prstGeom prst="roundRect">
            <a:avLst>
              <a:gd name="adj" fmla="val 12821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4" name="badge"/>
          <p:cNvSpPr/>
          <p:nvPr/>
        </p:nvSpPr>
        <p:spPr>
          <a:xfrm>
            <a:off x="6144768" y="1271016"/>
            <a:ext cx="438912" cy="43891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44768" y="12710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11887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1508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default</a:t>
            </a:r>
            <a:endParaRPr lang="en-US" sz="1100" dirty="0"/>
          </a:p>
        </p:txBody>
      </p:sp>
      <p:sp>
        <p:nvSpPr>
          <p:cNvPr id="18" name="card"/>
          <p:cNvSpPr/>
          <p:nvPr/>
        </p:nvSpPr>
        <p:spPr>
          <a:xfrm>
            <a:off x="457200" y="1965960"/>
            <a:ext cx="2606040" cy="713232"/>
          </a:xfrm>
          <a:prstGeom prst="roundRect">
            <a:avLst>
              <a:gd name="adj" fmla="val 12821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9" name="badge"/>
          <p:cNvSpPr/>
          <p:nvPr/>
        </p:nvSpPr>
        <p:spPr>
          <a:xfrm>
            <a:off x="566928" y="2093976"/>
            <a:ext cx="438912" cy="43891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20939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20116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2331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Literal[...]</a:t>
            </a:r>
            <a:endParaRPr lang="en-US" sz="1100" dirty="0"/>
          </a:p>
        </p:txBody>
      </p:sp>
      <p:sp>
        <p:nvSpPr>
          <p:cNvPr id="23" name="card"/>
          <p:cNvSpPr/>
          <p:nvPr/>
        </p:nvSpPr>
        <p:spPr>
          <a:xfrm>
            <a:off x="3246120" y="1965960"/>
            <a:ext cx="2606040" cy="713232"/>
          </a:xfrm>
          <a:prstGeom prst="roundRect">
            <a:avLst>
              <a:gd name="adj" fmla="val 12821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4" name="badge"/>
          <p:cNvSpPr/>
          <p:nvPr/>
        </p:nvSpPr>
        <p:spPr>
          <a:xfrm>
            <a:off x="3355848" y="2093976"/>
            <a:ext cx="438912" cy="43891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55848" y="20939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886200" y="20116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886200" y="2331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list, bool, limits</a:t>
            </a:r>
            <a:endParaRPr lang="en-US" sz="1100" dirty="0"/>
          </a:p>
        </p:txBody>
      </p:sp>
      <p:sp>
        <p:nvSpPr>
          <p:cNvPr id="28" name="card"/>
          <p:cNvSpPr/>
          <p:nvPr/>
        </p:nvSpPr>
        <p:spPr>
          <a:xfrm>
            <a:off x="6035040" y="1965960"/>
            <a:ext cx="2606040" cy="713232"/>
          </a:xfrm>
          <a:prstGeom prst="roundRect">
            <a:avLst>
              <a:gd name="adj" fmla="val 12821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9" name="badge"/>
          <p:cNvSpPr/>
          <p:nvPr/>
        </p:nvSpPr>
        <p:spPr>
          <a:xfrm>
            <a:off x="6144768" y="2093976"/>
            <a:ext cx="438912" cy="43891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44768" y="20939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675120" y="20116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675120" y="2331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+ assistant</a:t>
            </a:r>
            <a:endParaRPr lang="en-US" sz="1100" dirty="0"/>
          </a:p>
        </p:txBody>
      </p:sp>
      <p:sp>
        <p:nvSpPr>
          <p:cNvPr id="33" name="card"/>
          <p:cNvSpPr/>
          <p:nvPr/>
        </p:nvSpPr>
        <p:spPr>
          <a:xfrm>
            <a:off x="457200" y="2788920"/>
            <a:ext cx="2606040" cy="713232"/>
          </a:xfrm>
          <a:prstGeom prst="roundRect">
            <a:avLst>
              <a:gd name="adj" fmla="val 12821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34" name="badge"/>
          <p:cNvSpPr/>
          <p:nvPr/>
        </p:nvSpPr>
        <p:spPr>
          <a:xfrm>
            <a:off x="566928" y="2916936"/>
            <a:ext cx="438912" cy="43891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66928" y="2916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1097280" y="2834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97280" y="3154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resource</a:t>
            </a:r>
            <a:endParaRPr lang="en-US" sz="1100" dirty="0"/>
          </a:p>
        </p:txBody>
      </p:sp>
      <p:sp>
        <p:nvSpPr>
          <p:cNvPr id="38" name="card"/>
          <p:cNvSpPr/>
          <p:nvPr/>
        </p:nvSpPr>
        <p:spPr>
          <a:xfrm>
            <a:off x="3246120" y="2788920"/>
            <a:ext cx="2606040" cy="713232"/>
          </a:xfrm>
          <a:prstGeom prst="roundRect">
            <a:avLst>
              <a:gd name="adj" fmla="val 12821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39" name="badge"/>
          <p:cNvSpPr/>
          <p:nvPr/>
        </p:nvSpPr>
        <p:spPr>
          <a:xfrm>
            <a:off x="3355848" y="2916936"/>
            <a:ext cx="438912" cy="43891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355848" y="2916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3886200" y="2834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3886200" y="3154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content</a:t>
            </a:r>
            <a:endParaRPr lang="en-US" sz="1100" dirty="0"/>
          </a:p>
        </p:txBody>
      </p:sp>
      <p:sp>
        <p:nvSpPr>
          <p:cNvPr id="43" name="card"/>
          <p:cNvSpPr/>
          <p:nvPr/>
        </p:nvSpPr>
        <p:spPr>
          <a:xfrm>
            <a:off x="6035040" y="2788920"/>
            <a:ext cx="2606040" cy="713232"/>
          </a:xfrm>
          <a:prstGeom prst="roundRect">
            <a:avLst>
              <a:gd name="adj" fmla="val 12821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4" name="badge"/>
          <p:cNvSpPr/>
          <p:nvPr/>
        </p:nvSpPr>
        <p:spPr>
          <a:xfrm>
            <a:off x="6144768" y="2916936"/>
            <a:ext cx="438912" cy="43891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144768" y="2916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6675120" y="2834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6675120" y="3154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data</a:t>
            </a:r>
            <a:endParaRPr lang="en-US" sz="1100" dirty="0"/>
          </a:p>
        </p:txBody>
      </p:sp>
      <p:sp>
        <p:nvSpPr>
          <p:cNvPr id="48" name="card"/>
          <p:cNvSpPr/>
          <p:nvPr/>
        </p:nvSpPr>
        <p:spPr>
          <a:xfrm>
            <a:off x="457200" y="3611880"/>
            <a:ext cx="2606040" cy="713232"/>
          </a:xfrm>
          <a:prstGeom prst="roundRect">
            <a:avLst>
              <a:gd name="adj" fmla="val 12821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9" name="badge"/>
          <p:cNvSpPr/>
          <p:nvPr/>
        </p:nvSpPr>
        <p:spPr>
          <a:xfrm>
            <a:off x="566928" y="3739896"/>
            <a:ext cx="438912" cy="43891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66928" y="37398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1097280" y="36576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resource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1097280" y="3977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ctx.read_resource</a:t>
            </a:r>
            <a:endParaRPr lang="en-US" sz="1100" dirty="0"/>
          </a:p>
        </p:txBody>
      </p:sp>
      <p:sp>
        <p:nvSpPr>
          <p:cNvPr id="53" name="card"/>
          <p:cNvSpPr/>
          <p:nvPr/>
        </p:nvSpPr>
        <p:spPr>
          <a:xfrm>
            <a:off x="3246120" y="3611880"/>
            <a:ext cx="2606040" cy="713232"/>
          </a:xfrm>
          <a:prstGeom prst="roundRect">
            <a:avLst>
              <a:gd name="adj" fmla="val 12821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54" name="badge"/>
          <p:cNvSpPr/>
          <p:nvPr/>
        </p:nvSpPr>
        <p:spPr>
          <a:xfrm>
            <a:off x="3355848" y="3739896"/>
            <a:ext cx="438912" cy="438912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3355848" y="37398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3886200" y="36576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3886200" y="3977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title, tags, version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Required vs optional vs choices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457200" y="1188720"/>
            <a:ext cx="5120640" cy="2377440"/>
          </a:xfrm>
          <a:prstGeom prst="roundRect">
            <a:avLst>
              <a:gd name="adj" fmla="val 3077"/>
            </a:avLst>
          </a:prstGeom>
          <a:solidFill>
            <a:srgbClr val="15232B"/>
          </a:solidFill>
          <a:ln w="12700">
            <a:solidFill>
              <a:srgbClr val="1523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@mcp.prompt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translate(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text: str,                  # required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language: str = "Hindi",    # optional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tone: Literal["formal",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"friendly"] = "friendly"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str: ...</a:t>
            </a:r>
            <a:endParaRPr lang="en-US" sz="1200" dirty="0"/>
          </a:p>
        </p:txBody>
      </p:sp>
      <p:sp>
        <p:nvSpPr>
          <p:cNvPr id="5" name="badge"/>
          <p:cNvSpPr/>
          <p:nvPr/>
        </p:nvSpPr>
        <p:spPr>
          <a:xfrm>
            <a:off x="5852160" y="1280160"/>
            <a:ext cx="310896" cy="310896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52160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1252728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default = user MUST fill it</a:t>
            </a:r>
            <a:endParaRPr lang="en-US" sz="1300" dirty="0"/>
          </a:p>
        </p:txBody>
      </p:sp>
      <p:sp>
        <p:nvSpPr>
          <p:cNvPr id="8" name="badge"/>
          <p:cNvSpPr/>
          <p:nvPr/>
        </p:nvSpPr>
        <p:spPr>
          <a:xfrm>
            <a:off x="5852160" y="1901952"/>
            <a:ext cx="310896" cy="310896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52160" y="1901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874520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= user may skip it</a:t>
            </a:r>
            <a:endParaRPr lang="en-US" sz="1300" dirty="0"/>
          </a:p>
        </p:txBody>
      </p:sp>
      <p:sp>
        <p:nvSpPr>
          <p:cNvPr id="11" name="badge"/>
          <p:cNvSpPr/>
          <p:nvPr/>
        </p:nvSpPr>
        <p:spPr>
          <a:xfrm>
            <a:off x="5852160" y="2523744"/>
            <a:ext cx="310896" cy="310896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52160" y="2523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496312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 = only listed values</a:t>
            </a:r>
            <a:endParaRPr lang="en-US" sz="1300" dirty="0"/>
          </a:p>
        </p:txBody>
      </p:sp>
      <p:sp>
        <p:nvSpPr>
          <p:cNvPr id="14" name="badge"/>
          <p:cNvSpPr/>
          <p:nvPr/>
        </p:nvSpPr>
        <p:spPr>
          <a:xfrm>
            <a:off x="5852160" y="3145536"/>
            <a:ext cx="310896" cy="310896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52160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3118104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value is rejected</a:t>
            </a:r>
            <a:endParaRPr lang="en-US" sz="1300" dirty="0"/>
          </a:p>
        </p:txBody>
      </p:sp>
      <p:sp>
        <p:nvSpPr>
          <p:cNvPr id="17" name="card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E8F1F2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run: language skipped -&gt; "Translate to Hindi"; given Tamil -&gt; "Translate to Tamil".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Typed blanks: text on the wire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Client sends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Function gets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"3"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bool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"true"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list[str]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"[\"Python\"]"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["Python"]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int, le=30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"99"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rejected: too big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ard"/>
          <p:cNvSpPr/>
          <p:nvPr/>
        </p:nvSpPr>
        <p:spPr>
          <a:xfrm>
            <a:off x="457200" y="384048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BE3E1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Mistake: sending a real Python list. Use json.dumps(["Python"]).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Messages, roles, documents, images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(way 6)</a:t>
            </a:r>
            <a:endParaRPr lang="en-US" sz="1400" dirty="0"/>
          </a:p>
        </p:txBody>
      </p:sp>
      <p:sp>
        <p:nvSpPr>
          <p:cNvPr id="5" name="role"/>
          <p:cNvSpPr/>
          <p:nvPr/>
        </p:nvSpPr>
        <p:spPr>
          <a:xfrm>
            <a:off x="640080" y="173736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373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7373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Classify: billing, technical</a:t>
            </a:r>
            <a:endParaRPr lang="en-US" sz="1200" dirty="0"/>
          </a:p>
        </p:txBody>
      </p:sp>
      <p:sp>
        <p:nvSpPr>
          <p:cNvPr id="8" name="role"/>
          <p:cNvSpPr/>
          <p:nvPr/>
        </p:nvSpPr>
        <p:spPr>
          <a:xfrm>
            <a:off x="640080" y="2249424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24942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224942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Understood.</a:t>
            </a:r>
            <a:endParaRPr lang="en-US" sz="1200" dirty="0"/>
          </a:p>
        </p:txBody>
      </p:sp>
      <p:sp>
        <p:nvSpPr>
          <p:cNvPr id="11" name="role"/>
          <p:cNvSpPr/>
          <p:nvPr/>
        </p:nvSpPr>
        <p:spPr>
          <a:xfrm>
            <a:off x="640080" y="2761488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76148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276148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Ticket: charged twice</a:t>
            </a:r>
            <a:endParaRPr lang="en-US" sz="1200" dirty="0"/>
          </a:p>
        </p:txBody>
      </p:sp>
      <p:sp>
        <p:nvSpPr>
          <p:cNvPr id="14" name="role"/>
          <p:cNvSpPr/>
          <p:nvPr/>
        </p:nvSpPr>
        <p:spPr>
          <a:xfrm>
            <a:off x="640080" y="3273552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27355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32735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200" dirty="0"/>
          </a:p>
        </p:txBody>
      </p:sp>
      <p:sp>
        <p:nvSpPr>
          <p:cNvPr id="17" name="role"/>
          <p:cNvSpPr/>
          <p:nvPr/>
        </p:nvSpPr>
        <p:spPr>
          <a:xfrm>
            <a:off x="640080" y="3785616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78561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378561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Ticket: {real}</a:t>
            </a:r>
            <a:endParaRPr lang="en-US" sz="1200" dirty="0"/>
          </a:p>
        </p:txBody>
      </p:sp>
      <p:sp>
        <p:nvSpPr>
          <p:cNvPr id="20" name="card"/>
          <p:cNvSpPr/>
          <p:nvPr/>
        </p:nvSpPr>
        <p:spPr>
          <a:xfrm>
            <a:off x="4663440" y="123444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EFE8F7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A4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inside a message</a:t>
            </a:r>
            <a:endParaRPr lang="en-US" sz="1400" dirty="0"/>
          </a:p>
        </p:txBody>
      </p:sp>
      <p:sp>
        <p:nvSpPr>
          <p:cNvPr id="22" name="content kind"/>
          <p:cNvSpPr/>
          <p:nvPr/>
        </p:nvSpPr>
        <p:spPr>
          <a:xfrm>
            <a:off x="4846320" y="1783080"/>
            <a:ext cx="3657600" cy="731520"/>
          </a:xfrm>
          <a:prstGeom prst="roundRect">
            <a:avLst>
              <a:gd name="adj" fmla="val 12500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83480" y="17830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instructions, questions</a:t>
            </a:r>
            <a:endParaRPr lang="en-US" sz="1400" dirty="0"/>
          </a:p>
        </p:txBody>
      </p:sp>
      <p:sp>
        <p:nvSpPr>
          <p:cNvPr id="24" name="content kind"/>
          <p:cNvSpPr/>
          <p:nvPr/>
        </p:nvSpPr>
        <p:spPr>
          <a:xfrm>
            <a:off x="4846320" y="2651760"/>
            <a:ext cx="3657600" cy="731520"/>
          </a:xfrm>
          <a:prstGeom prst="roundRect">
            <a:avLst>
              <a:gd name="adj" fmla="val 12500"/>
            </a:avLst>
          </a:prstGeom>
          <a:solidFill>
            <a:srgbClr val="7A4EAB"/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83480" y="26517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(way 7)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resource</a:t>
            </a:r>
            <a:endParaRPr lang="en-US" sz="1400" dirty="0"/>
          </a:p>
        </p:txBody>
      </p:sp>
      <p:sp>
        <p:nvSpPr>
          <p:cNvPr id="26" name="content kind"/>
          <p:cNvSpPr/>
          <p:nvPr/>
        </p:nvSpPr>
        <p:spPr>
          <a:xfrm>
            <a:off x="4846320" y="3520440"/>
            <a:ext cx="3657600" cy="731520"/>
          </a:xfrm>
          <a:prstGeom prst="roundRect">
            <a:avLst>
              <a:gd name="adj" fmla="val 12500"/>
            </a:avLst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983480" y="35204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(way 8)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picture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 and reading a resource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457200" y="1188720"/>
            <a:ext cx="5212080" cy="3291840"/>
          </a:xfrm>
          <a:prstGeom prst="roundRect">
            <a:avLst>
              <a:gd name="adj" fmla="val 2222"/>
            </a:avLst>
          </a:prstGeom>
          <a:solidFill>
            <a:srgbClr val="15232B"/>
          </a:solidFill>
          <a:ln w="12700">
            <a:solidFill>
              <a:srgbClr val="1523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@mcp.prompt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policy_helper(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question: str, ctx: Context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str: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await ctx.read_resource(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"policy://leave")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policy = result.contents[0].content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f"Using only this policy: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{policy} Answer: {question}"</a:t>
            </a:r>
            <a:endParaRPr lang="en-US" sz="1200" dirty="0"/>
          </a:p>
        </p:txBody>
      </p:sp>
      <p:sp>
        <p:nvSpPr>
          <p:cNvPr id="5" name="badge"/>
          <p:cNvSpPr/>
          <p:nvPr/>
        </p:nvSpPr>
        <p:spPr>
          <a:xfrm>
            <a:off x="5852160" y="1280160"/>
            <a:ext cx="310896" cy="310896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52160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1252728"/>
            <a:ext cx="2423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def: the server can wait</a:t>
            </a:r>
            <a:endParaRPr lang="en-US" sz="1300" dirty="0"/>
          </a:p>
        </p:txBody>
      </p:sp>
      <p:sp>
        <p:nvSpPr>
          <p:cNvPr id="8" name="badge"/>
          <p:cNvSpPr/>
          <p:nvPr/>
        </p:nvSpPr>
        <p:spPr>
          <a:xfrm>
            <a:off x="5852160" y="2057400"/>
            <a:ext cx="310896" cy="310896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52160" y="2057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2029968"/>
            <a:ext cx="2423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 is a helper, not a user blank</a:t>
            </a:r>
            <a:endParaRPr lang="en-US" sz="1300" dirty="0"/>
          </a:p>
        </p:txBody>
      </p:sp>
      <p:sp>
        <p:nvSpPr>
          <p:cNvPr id="11" name="badge"/>
          <p:cNvSpPr/>
          <p:nvPr/>
        </p:nvSpPr>
        <p:spPr>
          <a:xfrm>
            <a:off x="5852160" y="2834640"/>
            <a:ext cx="310896" cy="310896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5216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807208"/>
            <a:ext cx="2423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asks its OWN server</a:t>
            </a:r>
            <a:endParaRPr lang="en-US" sz="1300" dirty="0"/>
          </a:p>
        </p:txBody>
      </p:sp>
      <p:sp>
        <p:nvSpPr>
          <p:cNvPr id="14" name="badge"/>
          <p:cNvSpPr/>
          <p:nvPr/>
        </p:nvSpPr>
        <p:spPr>
          <a:xfrm>
            <a:off x="5852160" y="3611880"/>
            <a:ext cx="310896" cy="310896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5216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3584448"/>
            <a:ext cx="2423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is read LIVE each time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B: build it as an object (12-13)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5212080" cy="3200400"/>
          </a:xfrm>
          <a:prstGeom prst="roundRect">
            <a:avLst>
              <a:gd name="adj" fmla="val 2857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code panel"/>
          <p:cNvSpPr/>
          <p:nvPr/>
        </p:nvSpPr>
        <p:spPr>
          <a:xfrm>
            <a:off x="594360" y="137160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15232B"/>
          </a:solidFill>
          <a:ln w="12700">
            <a:solidFill>
              <a:srgbClr val="1523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 =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"thank_you_note": (desc, tpl),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"bug_report": (desc, tpl),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name, (desc, tpl) in TEMPLATES.items():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mcp.add_prompt(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Prompt.from_function(render,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name=name, description=desc))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852160" y="1234440"/>
            <a:ext cx="2834640" cy="3200400"/>
          </a:xfrm>
          <a:prstGeom prst="roundRect">
            <a:avLst>
              <a:gd name="adj" fmla="val 3226"/>
            </a:avLst>
          </a:prstGeom>
          <a:solidFill>
            <a:srgbClr val="EFE8F7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A4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12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7373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from a database or YAML file become prompts in a loop.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2926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A4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13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32918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 server: you write list and get by hand.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C: add, combine, hide (14-16)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640080" y="1490472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258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at runtime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13258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creates the prompt "joke", then sends list_changed.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57200" y="23317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640080" y="2587752"/>
            <a:ext cx="457200" cy="4572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4231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24231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in the HR server: welcome_email becomes hr_welcome_email.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457200" y="342900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4" name="badge"/>
          <p:cNvSpPr/>
          <p:nvPr/>
        </p:nvSpPr>
        <p:spPr>
          <a:xfrm>
            <a:off x="640080" y="3685032"/>
            <a:ext cx="457200" cy="45720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5204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35204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it and disable the tag: not listed, and using it fails.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Prompt, resource or tool?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label"/>
          <p:cNvSpPr/>
          <p:nvPr/>
        </p:nvSpPr>
        <p:spPr>
          <a:xfrm>
            <a:off x="640080" y="1417320"/>
            <a:ext cx="2240280" cy="502920"/>
          </a:xfrm>
          <a:prstGeom prst="roundRect">
            <a:avLst>
              <a:gd name="adj" fmla="val 14545"/>
            </a:avLst>
          </a:prstGeom>
          <a:solidFill>
            <a:srgbClr val="7A4EAB"/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4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wording with blanks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346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1089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this code, focus on security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3246120" y="123444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0" name="label"/>
          <p:cNvSpPr/>
          <p:nvPr/>
        </p:nvSpPr>
        <p:spPr>
          <a:xfrm>
            <a:off x="3429000" y="1417320"/>
            <a:ext cx="2240280" cy="502920"/>
          </a:xfrm>
          <a:prstGeom prst="roundRect">
            <a:avLst>
              <a:gd name="adj" fmla="val 14545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417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103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to read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8346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1089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leave policy document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6035040" y="123444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6" name="label"/>
          <p:cNvSpPr/>
          <p:nvPr/>
        </p:nvSpPr>
        <p:spPr>
          <a:xfrm>
            <a:off x="6217920" y="1417320"/>
            <a:ext cx="2240280" cy="502920"/>
          </a:xfrm>
          <a:prstGeom prst="roundRect">
            <a:avLst>
              <a:gd name="adj" fmla="val 14545"/>
            </a:avLst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1417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103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action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8346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1089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an email, create a ticket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work together: prompt guides, resource informs, tool acts.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one should I use?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4023360" cy="512064"/>
          </a:xfrm>
          <a:prstGeom prst="roundRect">
            <a:avLst>
              <a:gd name="adj" fmla="val 17857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instruction</a:t>
            </a:r>
            <a:endParaRPr lang="en-US" sz="1200" dirty="0"/>
          </a:p>
        </p:txBody>
      </p:sp>
      <p:sp>
        <p:nvSpPr>
          <p:cNvPr id="5" name="arrow"/>
          <p:cNvSpPr/>
          <p:nvPr/>
        </p:nvSpPr>
        <p:spPr>
          <a:xfrm>
            <a:off x="2743200" y="1234440"/>
            <a:ext cx="274320" cy="237744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108960" y="1097280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1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4663440" y="1097280"/>
            <a:ext cx="4023360" cy="512064"/>
          </a:xfrm>
          <a:prstGeom prst="roundRect">
            <a:avLst>
              <a:gd name="adj" fmla="val 17857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09728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required text</a:t>
            </a:r>
            <a:endParaRPr lang="en-US" sz="1200" dirty="0"/>
          </a:p>
        </p:txBody>
      </p:sp>
      <p:sp>
        <p:nvSpPr>
          <p:cNvPr id="9" name="arrow"/>
          <p:cNvSpPr/>
          <p:nvPr/>
        </p:nvSpPr>
        <p:spPr>
          <a:xfrm>
            <a:off x="6949440" y="1234440"/>
            <a:ext cx="274320" cy="237744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0" y="1097280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2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457200" y="1691640"/>
            <a:ext cx="4023360" cy="512064"/>
          </a:xfrm>
          <a:prstGeom prst="roundRect">
            <a:avLst>
              <a:gd name="adj" fmla="val 17857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69164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Skippable input</a:t>
            </a:r>
            <a:endParaRPr lang="en-US" sz="1200" dirty="0"/>
          </a:p>
        </p:txBody>
      </p:sp>
      <p:sp>
        <p:nvSpPr>
          <p:cNvPr id="13" name="arrow"/>
          <p:cNvSpPr/>
          <p:nvPr/>
        </p:nvSpPr>
        <p:spPr>
          <a:xfrm>
            <a:off x="2743200" y="1828800"/>
            <a:ext cx="274320" cy="237744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08960" y="1691640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3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4663440" y="1691640"/>
            <a:ext cx="4023360" cy="512064"/>
          </a:xfrm>
          <a:prstGeom prst="roundRect">
            <a:avLst>
              <a:gd name="adj" fmla="val 17857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169164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from a list</a:t>
            </a:r>
            <a:endParaRPr lang="en-US" sz="1200" dirty="0"/>
          </a:p>
        </p:txBody>
      </p:sp>
      <p:sp>
        <p:nvSpPr>
          <p:cNvPr id="17" name="arrow"/>
          <p:cNvSpPr/>
          <p:nvPr/>
        </p:nvSpPr>
        <p:spPr>
          <a:xfrm>
            <a:off x="6949440" y="1828800"/>
            <a:ext cx="274320" cy="237744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0" y="1691640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4 Literal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457200" y="2286000"/>
            <a:ext cx="4023360" cy="512064"/>
          </a:xfrm>
          <a:prstGeom prst="roundRect">
            <a:avLst>
              <a:gd name="adj" fmla="val 17857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28600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Numbers, lists, limits</a:t>
            </a:r>
            <a:endParaRPr lang="en-US" sz="1200" dirty="0"/>
          </a:p>
        </p:txBody>
      </p:sp>
      <p:sp>
        <p:nvSpPr>
          <p:cNvPr id="21" name="arrow"/>
          <p:cNvSpPr/>
          <p:nvPr/>
        </p:nvSpPr>
        <p:spPr>
          <a:xfrm>
            <a:off x="2743200" y="2423160"/>
            <a:ext cx="274320" cy="237744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108960" y="2286000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5</a:t>
            </a:r>
            <a:endParaRPr lang="en-US" sz="1200" dirty="0"/>
          </a:p>
        </p:txBody>
      </p:sp>
      <p:sp>
        <p:nvSpPr>
          <p:cNvPr id="23" name="card"/>
          <p:cNvSpPr/>
          <p:nvPr/>
        </p:nvSpPr>
        <p:spPr>
          <a:xfrm>
            <a:off x="4663440" y="2286000"/>
            <a:ext cx="4023360" cy="512064"/>
          </a:xfrm>
          <a:prstGeom prst="roundRect">
            <a:avLst>
              <a:gd name="adj" fmla="val 17857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46320" y="228600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</a:t>
            </a:r>
            <a:endParaRPr lang="en-US" sz="1200" dirty="0"/>
          </a:p>
        </p:txBody>
      </p:sp>
      <p:sp>
        <p:nvSpPr>
          <p:cNvPr id="25" name="arrow"/>
          <p:cNvSpPr/>
          <p:nvPr/>
        </p:nvSpPr>
        <p:spPr>
          <a:xfrm>
            <a:off x="6949440" y="2423160"/>
            <a:ext cx="274320" cy="237744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0" y="2286000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6</a:t>
            </a:r>
            <a:endParaRPr lang="en-US" sz="1200" dirty="0"/>
          </a:p>
        </p:txBody>
      </p:sp>
      <p:sp>
        <p:nvSpPr>
          <p:cNvPr id="27" name="card"/>
          <p:cNvSpPr/>
          <p:nvPr/>
        </p:nvSpPr>
        <p:spPr>
          <a:xfrm>
            <a:off x="457200" y="2880360"/>
            <a:ext cx="4023360" cy="512064"/>
          </a:xfrm>
          <a:prstGeom prst="roundRect">
            <a:avLst>
              <a:gd name="adj" fmla="val 17857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288036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from a document</a:t>
            </a:r>
            <a:endParaRPr lang="en-US" sz="1200" dirty="0"/>
          </a:p>
        </p:txBody>
      </p:sp>
      <p:sp>
        <p:nvSpPr>
          <p:cNvPr id="29" name="arrow"/>
          <p:cNvSpPr/>
          <p:nvPr/>
        </p:nvSpPr>
        <p:spPr>
          <a:xfrm>
            <a:off x="2743200" y="3017520"/>
            <a:ext cx="274320" cy="237744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108960" y="2880360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7 or 10</a:t>
            </a:r>
            <a:endParaRPr lang="en-US" sz="1200" dirty="0"/>
          </a:p>
        </p:txBody>
      </p:sp>
      <p:sp>
        <p:nvSpPr>
          <p:cNvPr id="31" name="card"/>
          <p:cNvSpPr/>
          <p:nvPr/>
        </p:nvSpPr>
        <p:spPr>
          <a:xfrm>
            <a:off x="4663440" y="2880360"/>
            <a:ext cx="4023360" cy="512064"/>
          </a:xfrm>
          <a:prstGeom prst="roundRect">
            <a:avLst>
              <a:gd name="adj" fmla="val 17857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846320" y="288036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data</a:t>
            </a:r>
            <a:endParaRPr lang="en-US" sz="1200" dirty="0"/>
          </a:p>
        </p:txBody>
      </p:sp>
      <p:sp>
        <p:nvSpPr>
          <p:cNvPr id="33" name="arrow"/>
          <p:cNvSpPr/>
          <p:nvPr/>
        </p:nvSpPr>
        <p:spPr>
          <a:xfrm>
            <a:off x="6949440" y="3017520"/>
            <a:ext cx="274320" cy="237744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15200" y="2880360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9 async</a:t>
            </a:r>
            <a:endParaRPr lang="en-US" sz="1200" dirty="0"/>
          </a:p>
        </p:txBody>
      </p:sp>
      <p:sp>
        <p:nvSpPr>
          <p:cNvPr id="35" name="card"/>
          <p:cNvSpPr/>
          <p:nvPr/>
        </p:nvSpPr>
        <p:spPr>
          <a:xfrm>
            <a:off x="457200" y="3474720"/>
            <a:ext cx="4023360" cy="512064"/>
          </a:xfrm>
          <a:prstGeom prst="roundRect">
            <a:avLst>
              <a:gd name="adj" fmla="val 17857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" y="347472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in a database</a:t>
            </a:r>
            <a:endParaRPr lang="en-US" sz="1200" dirty="0"/>
          </a:p>
        </p:txBody>
      </p:sp>
      <p:sp>
        <p:nvSpPr>
          <p:cNvPr id="37" name="arrow"/>
          <p:cNvSpPr/>
          <p:nvPr/>
        </p:nvSpPr>
        <p:spPr>
          <a:xfrm>
            <a:off x="2743200" y="3611880"/>
            <a:ext cx="274320" cy="237744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108960" y="3474720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12</a:t>
            </a:r>
            <a:endParaRPr lang="en-US" sz="1200" dirty="0"/>
          </a:p>
        </p:txBody>
      </p:sp>
      <p:sp>
        <p:nvSpPr>
          <p:cNvPr id="39" name="card"/>
          <p:cNvSpPr/>
          <p:nvPr/>
        </p:nvSpPr>
        <p:spPr>
          <a:xfrm>
            <a:off x="4663440" y="3474720"/>
            <a:ext cx="4023360" cy="512064"/>
          </a:xfrm>
          <a:prstGeom prst="roundRect">
            <a:avLst>
              <a:gd name="adj" fmla="val 17857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846320" y="347472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while running</a:t>
            </a:r>
            <a:endParaRPr lang="en-US" sz="1200" dirty="0"/>
          </a:p>
        </p:txBody>
      </p:sp>
      <p:sp>
        <p:nvSpPr>
          <p:cNvPr id="41" name="arrow"/>
          <p:cNvSpPr/>
          <p:nvPr/>
        </p:nvSpPr>
        <p:spPr>
          <a:xfrm>
            <a:off x="6949440" y="3611880"/>
            <a:ext cx="274320" cy="237744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315200" y="3474720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14</a:t>
            </a:r>
            <a:endParaRPr lang="en-US" sz="1200" dirty="0"/>
          </a:p>
        </p:txBody>
      </p:sp>
      <p:sp>
        <p:nvSpPr>
          <p:cNvPr id="43" name="card"/>
          <p:cNvSpPr/>
          <p:nvPr/>
        </p:nvSpPr>
        <p:spPr>
          <a:xfrm>
            <a:off x="457200" y="4069080"/>
            <a:ext cx="4023360" cy="512064"/>
          </a:xfrm>
          <a:prstGeom prst="roundRect">
            <a:avLst>
              <a:gd name="adj" fmla="val 17857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40080" y="406908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teams</a:t>
            </a:r>
            <a:endParaRPr lang="en-US" sz="1200" dirty="0"/>
          </a:p>
        </p:txBody>
      </p:sp>
      <p:sp>
        <p:nvSpPr>
          <p:cNvPr id="45" name="arrow"/>
          <p:cNvSpPr/>
          <p:nvPr/>
        </p:nvSpPr>
        <p:spPr>
          <a:xfrm>
            <a:off x="2743200" y="4206240"/>
            <a:ext cx="274320" cy="237744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108960" y="4069080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15 mount</a:t>
            </a:r>
            <a:endParaRPr lang="en-US" sz="1200" dirty="0"/>
          </a:p>
        </p:txBody>
      </p:sp>
      <p:sp>
        <p:nvSpPr>
          <p:cNvPr id="47" name="card"/>
          <p:cNvSpPr/>
          <p:nvPr/>
        </p:nvSpPr>
        <p:spPr>
          <a:xfrm>
            <a:off x="4663440" y="4069080"/>
            <a:ext cx="4023360" cy="512064"/>
          </a:xfrm>
          <a:prstGeom prst="roundRect">
            <a:avLst>
              <a:gd name="adj" fmla="val 17857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846320" y="406908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off</a:t>
            </a:r>
            <a:endParaRPr lang="en-US" sz="1200" dirty="0"/>
          </a:p>
        </p:txBody>
      </p:sp>
      <p:sp>
        <p:nvSpPr>
          <p:cNvPr id="49" name="arrow"/>
          <p:cNvSpPr/>
          <p:nvPr/>
        </p:nvSpPr>
        <p:spPr>
          <a:xfrm>
            <a:off x="6949440" y="4206240"/>
            <a:ext cx="274320" cy="237744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315200" y="4069080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16 hide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safety rules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BE3E1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594360" y="1325880"/>
            <a:ext cx="457200" cy="457200"/>
          </a:xfrm>
          <a:prstGeom prst="ellipse">
            <a:avLst/>
          </a:prstGeom>
          <a:solidFill>
            <a:srgbClr val="B3382C"/>
          </a:solidFill>
          <a:ln w="12700">
            <a:solidFill>
              <a:srgbClr val="B338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188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is not a password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663440" y="118872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BE3E1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8" name="badge"/>
          <p:cNvSpPr/>
          <p:nvPr/>
        </p:nvSpPr>
        <p:spPr>
          <a:xfrm>
            <a:off x="4800600" y="1325880"/>
            <a:ext cx="457200" cy="457200"/>
          </a:xfrm>
          <a:prstGeom prst="ellipse">
            <a:avLst/>
          </a:prstGeom>
          <a:solidFill>
            <a:srgbClr val="B3382C"/>
          </a:solidFill>
          <a:ln w="12700">
            <a:solidFill>
              <a:srgbClr val="B338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1188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every blank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57200" y="205740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BE3E1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2" name="badge"/>
          <p:cNvSpPr/>
          <p:nvPr/>
        </p:nvSpPr>
        <p:spPr>
          <a:xfrm>
            <a:off x="594360" y="2194560"/>
            <a:ext cx="457200" cy="457200"/>
          </a:xfrm>
          <a:prstGeom prst="ellipse">
            <a:avLst/>
          </a:prstGeom>
          <a:solidFill>
            <a:srgbClr val="B3382C"/>
          </a:solidFill>
          <a:ln w="12700">
            <a:solidFill>
              <a:srgbClr val="B338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0574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user text as data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4663440" y="205740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BE3E1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6" name="badge"/>
          <p:cNvSpPr/>
          <p:nvPr/>
        </p:nvSpPr>
        <p:spPr>
          <a:xfrm>
            <a:off x="4800600" y="2194560"/>
            <a:ext cx="457200" cy="457200"/>
          </a:xfrm>
          <a:prstGeom prst="ellipse">
            <a:avLst/>
          </a:prstGeom>
          <a:solidFill>
            <a:srgbClr val="B3382C"/>
          </a:solidFill>
          <a:ln w="12700">
            <a:solidFill>
              <a:srgbClr val="B3382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20574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secrets in templates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457200" y="292608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BE3E1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0" name="badge"/>
          <p:cNvSpPr/>
          <p:nvPr/>
        </p:nvSpPr>
        <p:spPr>
          <a:xfrm>
            <a:off x="594360" y="3063240"/>
            <a:ext cx="457200" cy="457200"/>
          </a:xfrm>
          <a:prstGeom prst="ellipse">
            <a:avLst/>
          </a:prstGeom>
          <a:solidFill>
            <a:srgbClr val="B3382C"/>
          </a:solidFill>
          <a:ln w="12700">
            <a:solidFill>
              <a:srgbClr val="B3382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29260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text may attack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4663440" y="292608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4" name="badge"/>
          <p:cNvSpPr/>
          <p:nvPr/>
        </p:nvSpPr>
        <p:spPr>
          <a:xfrm>
            <a:off x="4800600" y="3063240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060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29260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honest in descriptions</a:t>
            </a:r>
            <a:endParaRPr lang="en-US" sz="1400" dirty="0"/>
          </a:p>
        </p:txBody>
      </p:sp>
      <p:sp>
        <p:nvSpPr>
          <p:cNvPr id="27" name="card"/>
          <p:cNvSpPr/>
          <p:nvPr/>
        </p:nvSpPr>
        <p:spPr>
          <a:xfrm>
            <a:off x="457200" y="37947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8" name="badge"/>
          <p:cNvSpPr/>
          <p:nvPr/>
        </p:nvSpPr>
        <p:spPr>
          <a:xfrm>
            <a:off x="594360" y="3931920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234440" y="3794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sensitive prompts</a:t>
            </a:r>
            <a:endParaRPr lang="en-US" sz="1400" dirty="0"/>
          </a:p>
        </p:txBody>
      </p:sp>
      <p:sp>
        <p:nvSpPr>
          <p:cNvPr id="31" name="card"/>
          <p:cNvSpPr/>
          <p:nvPr/>
        </p:nvSpPr>
        <p:spPr>
          <a:xfrm>
            <a:off x="4663440" y="37947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32" name="badge"/>
          <p:cNvSpPr/>
          <p:nvPr/>
        </p:nvSpPr>
        <p:spPr>
          <a:xfrm>
            <a:off x="4800600" y="3931920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0060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440680" y="3794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documents small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</a:t>
            </a:r>
            <a:endParaRPr lang="en-US" sz="4000" dirty="0"/>
          </a:p>
        </p:txBody>
      </p:sp>
      <p:sp>
        <p:nvSpPr>
          <p:cNvPr id="3" name="next card"/>
          <p:cNvSpPr/>
          <p:nvPr/>
        </p:nvSpPr>
        <p:spPr>
          <a:xfrm>
            <a:off x="548640" y="182880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0A354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8288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01_all_prompt_types_server.py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8288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16 ways in one server</a:t>
            </a:r>
            <a:endParaRPr lang="en-US" sz="1400" dirty="0"/>
          </a:p>
        </p:txBody>
      </p:sp>
      <p:sp>
        <p:nvSpPr>
          <p:cNvPr id="6" name="next card"/>
          <p:cNvSpPr/>
          <p:nvPr/>
        </p:nvSpPr>
        <p:spPr>
          <a:xfrm>
            <a:off x="548640" y="283464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0A3540"/>
          </a:solidFill>
          <a:ln w="12700">
            <a:solidFill>
              <a:srgbClr val="8FD3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8346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D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02_all_prompt_types_client.py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8346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tries each way and prints the result</a:t>
            </a:r>
            <a:endParaRPr lang="en-US" sz="1400" dirty="0"/>
          </a:p>
        </p:txBody>
      </p:sp>
      <p:sp>
        <p:nvSpPr>
          <p:cNvPr id="9" name="next card"/>
          <p:cNvSpPr/>
          <p:nvPr/>
        </p:nvSpPr>
        <p:spPr>
          <a:xfrm>
            <a:off x="548640" y="384048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0A354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8404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Practice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8404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explain(topic, level), hide bug_report, change the policy file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CP Prompts B">
  <a:themeElements>
    <a:clrScheme name="MCP Prompts B">
      <a:dk1>
        <a:srgbClr val="1F2933"/>
      </a:dk1>
      <a:lt1>
        <a:srgbClr val="FFFFFF"/>
      </a:lt1>
      <a:dk2>
        <a:srgbClr val="0F4C5C"/>
      </a:dk2>
      <a:lt2>
        <a:srgbClr val="E8F1F2"/>
      </a:lt2>
      <a:accent1>
        <a:srgbClr val="0F4C5C"/>
      </a:accent1>
      <a:accent2>
        <a:srgbClr val="E36414"/>
      </a:accent2>
      <a:accent3>
        <a:srgbClr val="2E7D4F"/>
      </a:accent3>
      <a:accent4>
        <a:srgbClr val="2F6DB5"/>
      </a:accent4>
      <a:accent5>
        <a:srgbClr val="B26A00"/>
      </a:accent5>
      <a:accent6>
        <a:srgbClr val="7A4EAB"/>
      </a:accent6>
      <a:hlink>
        <a:srgbClr val="2F6DB5"/>
      </a:hlink>
      <a:folHlink>
        <a:srgbClr val="7A4EAB"/>
      </a:folHlink>
    </a:clrScheme>
    <a:fontScheme name="MCP Prompts B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Prompts B: Simple Slides</dc:title>
  <dc:subject>PptxGenJS Presentation</dc:subject>
  <dc:creator>MCP Mentoring Path</dc:creator>
  <cp:lastModifiedBy>MCP Mentoring Path</cp:lastModifiedBy>
  <cp:revision>1</cp:revision>
  <dcterms:created xsi:type="dcterms:W3CDTF">2026-10-05T04:34:48Z</dcterms:created>
  <dcterms:modified xsi:type="dcterms:W3CDTF">2026-10-05T04:34:48Z</dcterms:modified>
</cp:coreProperties>
</file>