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afa848b-c40f-bf06-947e-f08d17931f64}">
          <p14:sldIdLst>
            <p14:sldId id="256"/>
          </p14:sldIdLst>
        </p14:section>
        <p14:section name="Idea" id="{fc96ca4f-1d85-961f-ef9c-76d7aca2da45}">
          <p14:sldIdLst>
            <p14:sldId id="257"/>
            <p14:sldId id="258"/>
          </p14:sldIdLst>
        </p14:section>
        <p14:section name="Lifecycle" id="{0040d582-c108-0ef8-daf4-ec8c1e9357d3}">
          <p14:sldIdLst>
            <p14:sldId id="259"/>
            <p14:sldId id="260"/>
          </p14:sldIdLst>
        </p14:section>
        <p14:section name="Use" id="{dfba3460-2888-40d9-7f9c-6d1fa7135b24}">
          <p14:sldIdLst>
            <p14:sldId id="261"/>
          </p14:sldIdLst>
        </p14:section>
        <p14:section name="Safety" id="{8253a835-c80f-e6fe-a82a-2b39beefb220}">
          <p14:sldIdLst>
            <p14:sldId id="262"/>
            <p14:sldId id="263"/>
            <p14:sldId id="264"/>
          </p14:sldIdLst>
        </p14:section>
        <p14:section name="Demo" id="{65f2bfea-1e0b-eba3-ba65-af81069786b1}">
          <p14:sldIdLst>
            <p14:sldId id="265"/>
          </p14:sldIdLst>
        </p14:section>
        <p14:section name="Spec" id="{94171b8f-759f-4615-824c-81759a974a64}">
          <p14:sldIdLst>
            <p14:sldId id="266"/>
            <p14:sldId id="267"/>
            <p14:sldId id="268"/>
          </p14:sldIdLst>
        </p14:section>
        <p14:section name="Wrap" id="{b9aab2dc-78f4-1869-a920-81ce4010642b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client feature. The chips preview two roots and the roots/list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arrow flips. This is the first time a server sends requests to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Path("...").as_uri() gives a correct file 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declare phase the server must not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time in the course that a server sends a request to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server, many users: only the client knows which folder is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Myth on the left, truth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startswith would wrongly allow project-alpha-secret inside project-alpha.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test the no paths as carefully as the yes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FastMCP and MCP-USE use the same Root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SEP-2577 deprecates Roots, Sampling and Logging. Earliest removal: first revision on or after 2027-07-28.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FastMCP calls this the guard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run: Beta allowed; private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servers. Right: clients and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MENTORING PATH  |  MODULE 4  |  LESSON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Roots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 server where you work</a:t>
            </a:r>
            <a:endParaRPr lang="en-US" sz="2200" dirty="0"/>
          </a:p>
        </p:txBody>
      </p:sp>
      <p:sp>
        <p:nvSpPr>
          <p:cNvPr id="5" name="chip"/>
          <p:cNvSpPr/>
          <p:nvPr/>
        </p:nvSpPr>
        <p:spPr>
          <a:xfrm>
            <a:off x="54864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file:///project-alpha</a:t>
            </a:r>
            <a:endParaRPr lang="en-US" sz="1300" dirty="0"/>
          </a:p>
        </p:txBody>
      </p:sp>
      <p:sp>
        <p:nvSpPr>
          <p:cNvPr id="7" name="chip"/>
          <p:cNvSpPr/>
          <p:nvPr/>
        </p:nvSpPr>
        <p:spPr>
          <a:xfrm>
            <a:off x="324612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file:///project-beta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594360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roots/list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the server asks the client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server features</a:t>
            </a:r>
            <a:endParaRPr lang="en-US" sz="1500" dirty="0"/>
          </a:p>
        </p:txBody>
      </p:sp>
      <p:sp>
        <p:nvSpPr>
          <p:cNvPr id="5" name="client box"/>
          <p:cNvSpPr/>
          <p:nvPr/>
        </p:nvSpPr>
        <p:spPr>
          <a:xfrm>
            <a:off x="731520" y="201168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11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server box"/>
          <p:cNvSpPr/>
          <p:nvPr/>
        </p:nvSpPr>
        <p:spPr>
          <a:xfrm>
            <a:off x="2926080" y="201168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011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2103120" y="2148840"/>
            <a:ext cx="731520" cy="36576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asks: tools, resources, prompts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663440" y="123444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client features</a:t>
            </a:r>
            <a:endParaRPr lang="en-US" sz="1500" dirty="0"/>
          </a:p>
        </p:txBody>
      </p:sp>
      <p:sp>
        <p:nvSpPr>
          <p:cNvPr id="13" name="client box"/>
          <p:cNvSpPr/>
          <p:nvPr/>
        </p:nvSpPr>
        <p:spPr>
          <a:xfrm>
            <a:off x="4937760" y="201168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011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15" name="server box"/>
          <p:cNvSpPr/>
          <p:nvPr/>
        </p:nvSpPr>
        <p:spPr>
          <a:xfrm>
            <a:off x="7132320" y="2011680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2011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6309360" y="2148840"/>
            <a:ext cx="731520" cy="365760"/>
          </a:xfrm>
          <a:prstGeom prst="leftArrow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asks: roots, sampling, elicitation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root = a highlighted area on a map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846320" cy="3108960"/>
          </a:xfrm>
          <a:prstGeom prst="roundRect">
            <a:avLst>
              <a:gd name="adj" fmla="val 2941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sends</a:t>
            </a:r>
            <a:endParaRPr lang="en-US" sz="1400" dirty="0"/>
          </a:p>
        </p:txBody>
      </p:sp>
      <p:sp>
        <p:nvSpPr>
          <p:cNvPr id="5" name="code panel"/>
          <p:cNvSpPr/>
          <p:nvPr/>
        </p:nvSpPr>
        <p:spPr>
          <a:xfrm>
            <a:off x="640080" y="173736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roots: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uri:  "file:///home/asha/project-alpha",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"Alpha"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uri:  "file:///home/asha/project-beta",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"Beta"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5486400" y="1234440"/>
            <a:ext cx="3200400" cy="3108960"/>
          </a:xfrm>
          <a:prstGeom prst="roundRect">
            <a:avLst>
              <a:gd name="adj" fmla="val 2941"/>
            </a:avLst>
          </a:prstGeom>
          <a:solidFill>
            <a:srgbClr val="EFE8F7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field"/>
          <p:cNvSpPr/>
          <p:nvPr/>
        </p:nvSpPr>
        <p:spPr>
          <a:xfrm>
            <a:off x="5669280" y="14630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463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901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file://</a:t>
            </a:r>
            <a:endParaRPr lang="en-US" sz="1300" dirty="0"/>
          </a:p>
        </p:txBody>
      </p:sp>
      <p:sp>
        <p:nvSpPr>
          <p:cNvPr id="11" name="field"/>
          <p:cNvSpPr/>
          <p:nvPr/>
        </p:nvSpPr>
        <p:spPr>
          <a:xfrm>
            <a:off x="5669280" y="23774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2377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label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Advice, not a locked door.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</a:t>
            </a:r>
            <a:endParaRPr lang="en-US" sz="3000" dirty="0"/>
          </a:p>
        </p:txBody>
      </p:sp>
      <p:sp>
        <p:nvSpPr>
          <p:cNvPr id="3" name="connector"/>
          <p:cNvSpPr/>
          <p:nvPr/>
        </p:nvSpPr>
        <p:spPr>
          <a:xfrm>
            <a:off x="1417320" y="1783080"/>
            <a:ext cx="59436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"I support roots"</a:t>
            </a:r>
            <a:endParaRPr lang="en-US" sz="1100" dirty="0"/>
          </a:p>
        </p:txBody>
      </p:sp>
      <p:sp>
        <p:nvSpPr>
          <p:cNvPr id="8" name="connector"/>
          <p:cNvSpPr/>
          <p:nvPr/>
        </p:nvSpPr>
        <p:spPr>
          <a:xfrm>
            <a:off x="3154680" y="1783080"/>
            <a:ext cx="59436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2423160" y="1508760"/>
            <a:ext cx="548640" cy="54864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roots/list</a:t>
            </a:r>
            <a:endParaRPr lang="en-US" sz="1100" dirty="0"/>
          </a:p>
        </p:txBody>
      </p:sp>
      <p:sp>
        <p:nvSpPr>
          <p:cNvPr id="13" name="connector"/>
          <p:cNvSpPr/>
          <p:nvPr/>
        </p:nvSpPr>
        <p:spPr>
          <a:xfrm>
            <a:off x="4892040" y="1783080"/>
            <a:ext cx="59436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4160520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list of roots</a:t>
            </a:r>
            <a:endParaRPr lang="en-US" sz="1100" dirty="0"/>
          </a:p>
        </p:txBody>
      </p:sp>
      <p:sp>
        <p:nvSpPr>
          <p:cNvPr id="18" name="connector"/>
          <p:cNvSpPr/>
          <p:nvPr/>
        </p:nvSpPr>
        <p:spPr>
          <a:xfrm>
            <a:off x="6629400" y="1783080"/>
            <a:ext cx="594360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5897880" y="150876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stays inside</a:t>
            </a:r>
            <a:endParaRPr lang="en-US" sz="1100" dirty="0"/>
          </a:p>
        </p:txBody>
      </p:sp>
      <p:sp>
        <p:nvSpPr>
          <p:cNvPr id="23" name="badge"/>
          <p:cNvSpPr/>
          <p:nvPr/>
        </p:nvSpPr>
        <p:spPr>
          <a:xfrm>
            <a:off x="7635240" y="1508760"/>
            <a:ext cx="548640" cy="54864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list_changed poke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should ask again whenever it matters.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 change folders at any moment, so never cache roots forever.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roots/list conversation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754880" cy="3200400"/>
          </a:xfrm>
          <a:prstGeom prst="roundRect">
            <a:avLst>
              <a:gd name="adj" fmla="val 2286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 -&gt; 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{"method":"roots/list"}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 -&gt;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{"result":{"roots":[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{"uri":"file:///.../project-alpha",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"name":"Alpha"},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{"uri":"file:///.../project-beta",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"name":"Beta"}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]}}</a:t>
            </a:r>
            <a:endParaRPr lang="en-US" sz="1100" dirty="0"/>
          </a:p>
        </p:txBody>
      </p:sp>
      <p:sp>
        <p:nvSpPr>
          <p:cNvPr id="5" name="badge"/>
          <p:cNvSpPr/>
          <p:nvPr/>
        </p:nvSpPr>
        <p:spPr>
          <a:xfrm>
            <a:off x="548640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25272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the request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48640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02996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answers with a list (may be empty)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48640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80720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Notification: roots/list_changed has no data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48640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358444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poke: ask again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roots help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assistant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open in the editor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429000" y="1463040"/>
            <a:ext cx="457200" cy="4572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 workspace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repos, one view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217920" y="14630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search server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only chosen folders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server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inside the repo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4612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429000" y="3017520"/>
            <a:ext cx="457200" cy="45720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helper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docs folder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3504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217920" y="3017520"/>
            <a:ext cx="457200" cy="45720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CSVs from one folder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Roots are guidance, not a lock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client blocks access outside roots."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4572000" y="1527048"/>
            <a:ext cx="365760" cy="32918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5029200" y="123444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DDF2E4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234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sends a list.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server cannot leave the roots."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572000" y="2578608"/>
            <a:ext cx="365760" cy="32918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5029200" y="22860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DDF2E4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can, unless YOU check.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333756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"Roots are a sandbox."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4572000" y="3630168"/>
            <a:ext cx="365760" cy="329184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5029200" y="33375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DDF2E4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337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says they are not.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must resolve every path, then check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 that makes it safe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inside_roots(target, roots):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= target.resolve()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 == base or base in target.parents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_, base in roots)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tool: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Path(path).resolve()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inside_roots(target, roots):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ToolError("Access denied")</a:t>
            </a:r>
            <a:endParaRPr lang="en-US" sz="12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resolve() flattens ../ and symlinks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parents, not startswith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reading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roots = error, never "everything"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run: attacking our own server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inside root     -&gt; # Project Alpha | Invoice service for TechNova.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outside root    -&gt; ERROR: Access denied: outside the shared roots.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with ../ trick  -&gt; ERROR: Access denied: outside the shared roots.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457200" y="31546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trick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resolve() exposes the real path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42032" y="31546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path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inside any root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626864" y="31546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8304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Symlink escape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resolve() follows the link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711696" y="31546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03136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confusion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03136" y="3657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parents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and dynamic roots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Client(transport,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roots=[ALPHA, BETA])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Client(transport,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roots=roots_handler)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(find_files *.md)</a:t>
            </a:r>
            <a:endParaRPr lang="en-US" sz="1300" dirty="0"/>
          </a:p>
        </p:txBody>
      </p:sp>
      <p:sp>
        <p:nvSpPr>
          <p:cNvPr id="6" name="code panel"/>
          <p:cNvSpPr/>
          <p:nvPr/>
        </p:nvSpPr>
        <p:spPr>
          <a:xfrm>
            <a:off x="457200" y="356616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657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 -&gt; Alpha, Beta, Beta/design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 closed -&gt; Alpha/README.md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 reopened -&gt; all three again</a:t>
            </a:r>
            <a:endParaRPr lang="en-US" sz="1100" dirty="0"/>
          </a:p>
        </p:txBody>
      </p:sp>
      <p:sp>
        <p:nvSpPr>
          <p:cNvPr id="8" name="badge"/>
          <p:cNvSpPr/>
          <p:nvPr/>
        </p:nvSpPr>
        <p:spPr>
          <a:xfrm>
            <a:off x="548640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25272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roots=[...] declares and answers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48640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02996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roots=function: fresh list every ask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48640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280720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send_roots_list_changed() is the poke</a:t>
            </a:r>
            <a:endParaRPr lang="en-US" sz="1300" dirty="0"/>
          </a:p>
        </p:txBody>
      </p:sp>
      <p:sp>
        <p:nvSpPr>
          <p:cNvPr id="17" name="badge"/>
          <p:cNvSpPr/>
          <p:nvPr/>
        </p:nvSpPr>
        <p:spPr>
          <a:xfrm>
            <a:off x="548640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584448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MCP-USE: roots=[...] or list_roots_callback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2026-07-28: deprecated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Classic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7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Now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normal feature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DEPRECATED (still works)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Removal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not before 28 July 2027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Server asks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pushes roots/list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returns "input required"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Change notice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list_changed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removed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Instead use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parameter, resource URI, config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roots to read systems. Use the replacement to build new 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MRTR: one call, two round trips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937760" cy="658368"/>
          </a:xfrm>
          <a:prstGeom prst="roundRect">
            <a:avLst>
              <a:gd name="adj" fmla="val 1388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 the tool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965960"/>
            <a:ext cx="4937760" cy="658368"/>
          </a:xfrm>
          <a:prstGeom prst="roundRect">
            <a:avLst>
              <a:gd name="adj" fmla="val 1388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9659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"input required: send roots"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743200"/>
            <a:ext cx="4937760" cy="658368"/>
          </a:xfrm>
          <a:prstGeom prst="roundRect">
            <a:avLst>
              <a:gd name="adj" fmla="val 1388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28346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432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answers and calls AGAIN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3520440"/>
            <a:ext cx="4937760" cy="658368"/>
          </a:xfrm>
          <a:prstGeom prst="roundRect">
            <a:avLst>
              <a:gd name="adj" fmla="val 1388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594360" y="361188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204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finishes the job</a:t>
            </a:r>
            <a:endParaRPr lang="en-US" sz="1400" dirty="0"/>
          </a:p>
        </p:txBody>
      </p:sp>
      <p:sp>
        <p:nvSpPr>
          <p:cNvPr id="19" name="code panel"/>
          <p:cNvSpPr/>
          <p:nvPr/>
        </p:nvSpPr>
        <p:spPr>
          <a:xfrm>
            <a:off x="5577840" y="118872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12801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ctx.input_responses is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InputRequiredResult(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input_requests={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"my_roots":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ListRootsRequest()})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ctx.input_responses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["my_roots"]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code does not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recommended replacement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1887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5232B"/>
          </a:solidFill>
          <a:ln w="12700">
            <a:solidFill>
              <a:srgbClr val="15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ALLOWED_DIRS = [alpha, beta]   # config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find_files_in(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base_dir: str, pattern: str):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 = Path(base_dir).resolve()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_inside(target, ALLOWED_DIRS):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ToolError("not allowed")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_search([target], pattern)</a:t>
            </a:r>
            <a:endParaRPr lang="en-US" sz="1200" dirty="0"/>
          </a:p>
        </p:txBody>
      </p:sp>
      <p:sp>
        <p:nvSpPr>
          <p:cNvPr id="5" name="badge"/>
          <p:cNvSpPr/>
          <p:nvPr/>
        </p:nvSpPr>
        <p:spPr>
          <a:xfrm>
            <a:off x="5852160" y="128016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25272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is a normal parameter</a:t>
            </a:r>
            <a:endParaRPr lang="en-US" sz="1300" dirty="0"/>
          </a:p>
        </p:txBody>
      </p:sp>
      <p:sp>
        <p:nvSpPr>
          <p:cNvPr id="8" name="badge"/>
          <p:cNvSpPr/>
          <p:nvPr/>
        </p:nvSpPr>
        <p:spPr>
          <a:xfrm>
            <a:off x="5852160" y="205740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202996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owns the allow-list</a:t>
            </a:r>
            <a:endParaRPr lang="en-US" sz="1300" dirty="0"/>
          </a:p>
        </p:txBody>
      </p:sp>
      <p:sp>
        <p:nvSpPr>
          <p:cNvPr id="11" name="badge"/>
          <p:cNvSpPr/>
          <p:nvPr/>
        </p:nvSpPr>
        <p:spPr>
          <a:xfrm>
            <a:off x="5852160" y="2834640"/>
            <a:ext cx="310896" cy="310896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0720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resolve-then-check rule</a:t>
            </a:r>
            <a:endParaRPr lang="en-US" sz="1300" dirty="0"/>
          </a:p>
        </p:txBody>
      </p:sp>
      <p:sp>
        <p:nvSpPr>
          <p:cNvPr id="14" name="badge"/>
          <p:cNvSpPr/>
          <p:nvPr/>
        </p:nvSpPr>
        <p:spPr>
          <a:xfrm>
            <a:off x="5852160" y="3611880"/>
            <a:ext cx="310896" cy="310896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423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round trip, nothing deprecated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again when it matters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1887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Resolve, then check every path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default to "everything"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0574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00600" y="219456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file:// roots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user choose roots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663440" y="29260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is shared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depth, count, size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663440" y="379476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4800600" y="3931920"/>
            <a:ext cx="457200" cy="45720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parameter + allow-list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Sampling</a:t>
            </a:r>
            <a:endParaRPr lang="en-US" sz="4000" dirty="0"/>
          </a:p>
        </p:txBody>
      </p:sp>
      <p:sp>
        <p:nvSpPr>
          <p:cNvPr id="3" name="next card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828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borrows the client's AI model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548640" y="2834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8FD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8346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 approve or refuse</a:t>
            </a:r>
            <a:endParaRPr lang="en-US" sz="1400" dirty="0"/>
          </a:p>
        </p:txBody>
      </p:sp>
      <p:sp>
        <p:nvSpPr>
          <p:cNvPr id="9" name="next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840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in 2026-07-28, still taught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Roots">
  <a:themeElements>
    <a:clrScheme name="MCP Roots">
      <a:dk1>
        <a:srgbClr val="1F29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E7D4F"/>
      </a:accent3>
      <a:accent4>
        <a:srgbClr val="2F6DB5"/>
      </a:accent4>
      <a:accent5>
        <a:srgbClr val="B26A00"/>
      </a:accent5>
      <a:accent6>
        <a:srgbClr val="7A4EAB"/>
      </a:accent6>
      <a:hlink>
        <a:srgbClr val="2F6DB5"/>
      </a:hlink>
      <a:folHlink>
        <a:srgbClr val="7A4EAB"/>
      </a:folHlink>
    </a:clrScheme>
    <a:fontScheme name="MCP Roo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Roots: Infographic Slides</dc:title>
  <dc:subject>PptxGenJS Presentation</dc:subject>
  <dc:creator>MCP Mentoring Path</dc:creator>
  <cp:lastModifiedBy>MCP Mentoring Path</cp:lastModifiedBy>
  <cp:revision>1</cp:revision>
  <dcterms:created xsi:type="dcterms:W3CDTF">2026-10-05T08:18:47Z</dcterms:created>
  <dcterms:modified xsi:type="dcterms:W3CDTF">2026-10-05T08:18:47Z</dcterms:modified>
</cp:coreProperties>
</file>